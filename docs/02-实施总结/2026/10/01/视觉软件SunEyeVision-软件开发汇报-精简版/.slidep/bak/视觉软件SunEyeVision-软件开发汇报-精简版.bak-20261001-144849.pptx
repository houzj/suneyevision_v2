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5"/>
  </p:notesMasterIdLst>
  <p:sldIdLst>
    <p:sldId id="256" r:id="rId1"/>
    <p:sldId id="257" r:id="rId2"/>
    <p:sldId id="258" r:id="rId3"/>
    <p:sldId id="259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3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5" Type="http://schemas.openxmlformats.org/officeDocument/2006/relationships/notesMaster" Target="notesMasters/notesMaster1.xml" /><Relationship Id="rId4" Type="http://schemas.openxmlformats.org/officeDocument/2006/relationships/slide" Target="slides/slide4.xml" 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2" Type="http://schemas.openxmlformats.org/officeDocument/2006/relationships/image" Target="media/image2.svg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6.svg" /><Relationship Id="rId2" Type="http://schemas.openxmlformats.org/officeDocument/2006/relationships/image" Target="media/image4.svg" /><Relationship Id="rId3" Type="http://schemas.openxmlformats.org/officeDocument/2006/relationships/image" Target="media/image5.svg" /><Relationship Id="rId5" Type="http://schemas.openxmlformats.org/officeDocument/2006/relationships/image" Target="media/image7.svg" /><Relationship Id="rId6" Type="http://schemas.openxmlformats.org/officeDocument/2006/relationships/image" Target="media/image8.svg" /><Relationship Id="rId7" Type="http://schemas.openxmlformats.org/officeDocument/2006/relationships/image" Target="media/image9.svg" /><Relationship Id="rId8" Type="http://schemas.openxmlformats.org/officeDocument/2006/relationships/image" Target="media/image10.svg" /><Relationship Id="rId9" Type="http://schemas.openxmlformats.org/officeDocument/2006/relationships/image" Target="media/image11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Relationship Id="rId2" Type="http://schemas.openxmlformats.org/officeDocument/2006/relationships/image" Target="media/image3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svg" /><Relationship Id="rId3" Type="http://schemas.openxmlformats.org/officeDocument/2006/relationships/image" Target="media/image15.svg" /><Relationship Id="rId2" Type="http://schemas.openxmlformats.org/officeDocument/2006/relationships/image" Target="media/image14.svg" /><Relationship Id="rId7" Type="http://schemas.openxmlformats.org/officeDocument/2006/relationships/image" Target="media/image19.svg" /><Relationship Id="rId5" Type="http://schemas.openxmlformats.org/officeDocument/2006/relationships/image" Target="media/image17.svg" /><Relationship Id="rId4" Type="http://schemas.openxmlformats.org/officeDocument/2006/relationships/image" Target="media/image16.svg" /><Relationship Id="rId6" Type="http://schemas.openxmlformats.org/officeDocument/2006/relationships/image" Target="media/image18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&#10;    width: '1280px', height: '720px', position: 'relative', overflow: 'hidden',&#10;    background: 'linear-gradient(135deg, #0B2A45 0%, #14456E 55%, #2196F3 160%)',&#10;    padding: '20px 60px', fontFamily: '&quot;Microsoft YaHei&quot;, &quot;Segoe UI&quot;, sans-serif'&#10;}}&gt;&#10;    {/* 背景装饰：右侧大圆弧 */}&#10;    &lt;Box style={{&#10;        position: 'absolute', right: -160, top: -180, width: 620, height: 620,&#10;        borderRadius: '50%', background: 'rgba(255,255,255,0.06)'&#10;    }} /&gt;&#10;    &lt;Box style={{&#10;        position: 'absolute', right: 80, bottom: -220, width: 460, height: 460,&#10;        borderRadius: '50%', background: 'rgba(33,150,243,0.18)'&#10;    }} /&gt;&#10;&#10;    {/* 顶部标识 */}&#10;    &lt;Box style={{&#10;        flexDirection: 'row', alignItems: 'center', justifyContent: 'space-between',&#10;        height: 40, position: 'relative', zIndex: 2&#10;    }}&gt;&#10;        &lt;Box style={{ flexDirection: 'row', alignItems: 'center', gap: 12 }}&gt;&#10;            &lt;Box style={{&#10;                width: 30, height: 30, borderRadius: 8, background: '#2196F3',&#10;                justifyContent: 'center', alignItems: 'center'&#10;            }}&gt;&#10;                &lt;FAIcon name='eye' style={{ fill: '#ffffff', width: 18, height: 18 }} /&gt;&#10;            &lt;/Box&gt;&#10;            &lt;Text style={{ fontSize: 17, fontWeight: 'bold', color: '#ffffff', letterSpacing: 1 }}&gt;&#10;                视觉软件 SunEyeVision（V2）&#10;            &lt;/Text&gt;&#10;        &lt;/Box&gt;&#10;        &lt;Text style={{ fontSize: 13, color: '#9FC3E0' }}&gt;视觉引导抓取平台&lt;/Text&gt;&#10;    &lt;/Box&gt;&#10;&#10;    {/* 主体：左侧骑线标题 + 右侧大数字组 */}&#10;    &lt;Box style={{ flexDirection: 'row', flex: 1, alignItems: 'center', position: 'relative', zIndex: 2 }}&gt;&#10;        {/* 左：标题区 */}&#10;        &lt;Box style={{ width: '58%', flexDirection: 'column', gap: 16 }}&gt;&#10;            &lt;Box style={{&#10;                flexDirection: 'row', alignItems: 'center', gap: 10,&#10;                background: 'rgba(255,255,255,0.12)', padding: '6px 14px',&#10;                borderRadius: 999, width: 250&#10;            }}&gt;&#10;                &lt;FAIcon name='calendar' style={{ fill: '#9FC3E0', width: 15, height: 15 }} /&gt;&#10;                &lt;Text style={{ fontSize: 13, color: '#DCEAF6' }}&gt;2026-10-01 汇报&lt;/Text&gt;&#10;            &lt;/Box&gt;&#10;            &lt;Text style={{ fontSize: 78, fontWeight: 800, color: '#ffffff', lineHeight: 1.15, letterSpacing: -1 }}&gt;&#10;                软件开发汇报&#10;            &lt;/Text&gt;&#10;            &lt;Text style={{ fontSize: 22, color: '#BBD6EC', lineHeight: 1.5 }}&gt;&#10;                已完成产出 · 当前在建 · 下一步计划&#10;            &lt;/Text&gt;&#10;            &lt;Text style={{ fontSize: 14, color: '#9FC3E0' }}&gt;&#10;                产品定位：&lt;span style={{ color: '#ffffff', fontWeight: 'bold' }}&gt;平台能力&lt;/span&gt;（协议与机型按现场挂载，可复用到多机型 / 多现场），非单一项目定制&#10;            &lt;/Text&gt;&#10;            &lt;Box style={{&#10;                marginTop: 4, padding: '14px 18px', borderRadius: 10,&#10;                background: 'rgba(255,255,255,0.10)', borderLeft: '4px solid #E8930C'&#10;            }}&gt;&#10;                &lt;Text style={{ fontSize: 17, color: '#EAF3FB', lineHeight: 1.6 }}&gt;&#10;                    平台底座与视觉工具链&lt;span style={{ fontWeight: 'bold', color: '#ffffff' }}&gt;已成型&lt;/span&gt;，19 个工具插件&lt;span style={{ fontWeight: 'bold' }}&gt;可直接组流程演示&lt;/span&gt;；&#10;                    测量工具链提前完工，当前收口&lt;span style={{ fontWeight: 'bold', color: '#ffffff' }}&gt;相机 / 通讯 / 图像源&lt;/span&gt;设备层；&lt;br /&gt;交付目标：&lt;span style={{ fontWeight: 'bold', color: '#E8930C' }}&gt;12/31 具备引导抓取的演示能力&lt;/span&gt;。&#10;                &lt;/Text&gt;&#10;            &lt;/Box&gt;&#10;        &lt;/Box&gt;&#10;&#10;        {/* 右：大数字组（视觉锚点） */}&#10;        &lt;Box style={{ width: '42%', flexDirection: 'column', gap: 16, paddingLeft: 30 }}&gt;&#10;            &lt;Box style={{&#10;                background: 'rgba(255,255,255,0.10)', borderRadius: 14,&#10;                padding: '18px 22px', flexDirection: 'row', alignItems: 'flex-end', gap: 12&#10;            }}&gt;&#10;                &lt;Text style={{ fontSize: 84, fontWeight: 800, color: '#E8930C', lineHeight: 1 }}&gt;71%&lt;/Text&gt;&#10;                &lt;Box style={{ flexDirection: 'column', paddingBottom: 8 }}&gt;&#10;                    &lt;Text style={{ fontSize: 15, color: '#ffffff', fontWeight: 'bold' }}&gt;整体完成度&lt;/Text&gt;&#10;                    &lt;Text style={{ fontSize: 13, color: '#9FC3E0' }}&gt;197 / 276 子任务&lt;/Text&gt;&#10;                &lt;/Box&gt;&#10;            &lt;/Box&gt;&#10;            &lt;Box style={{ flexDirection: 'row', gap: 16 }}&gt;&#10;                &lt;Box style={{&#10;                    flex: 1, background: 'rgba(255,255,255,0.10)', borderRadius: 14, padding: '16px 18px'&#10;                }}&gt;&#10;                    &lt;Text style={{ fontSize: 46, fontWeight: 800, color: '#ffffff', lineHeight: 1 }}&gt;19&lt;/Text&gt;&#10;                    &lt;Text style={{ fontSize: 14, color: '#BBD6EC', marginTop: 6 }}&gt;已落地工具插件&lt;/Text&gt;&#10;                &lt;/Box&gt;&#10;                &lt;Box style={{&#10;                    flex: 1, background: 'rgba(255,255,255,0.10)', borderRadius: 14, padding: '16px 18px'&#10;                }}&gt;&#10;                    &lt;Text style={{ fontSize: 46, fontWeight: 800, color: '#E8930C', lineHeight: 1 }}&gt;12/31&lt;/Text&gt;&#10;                    &lt;Text style={{ fontSize: 14, color: '#BBD6EC', marginTop: 6 }}&gt;引导抓取演示能力&lt;/Text&gt;&#10;                &lt;/Box&gt;&#10;            &lt;/Box&gt;&#10;        &lt;/Box&gt;&#10;    &lt;/Box&gt;&#10;&#10;    {/* C 区页脚 */}&#10;    &lt;Box style={{&#10;        flexDirection: 'row', alignItems: 'center', justifyContent: 'space-between',&#10;        height: 40, position: 'relative', zIndex: 2&#10;    }}&gt;&#10;        &lt;Text style={{ fontSize: 13, color: '#8FB4D1' }}&gt;数据来源：Git 提交记录 + 计划看板 + docs 文档库&lt;/Text&gt;&#10;        &lt;Text style={{ fontSize: 13, color: '#8FB4D1' }}&gt;01 / 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A45"/>
              </a:gs>
              <a:gs pos="55000">
                <a:srgbClr val="14456E"/>
              </a:gs>
              <a:gs pos="100000">
                <a:srgbClr val="2196F3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810500" y="-1714500"/>
            <a:ext cx="5905500" cy="5905500"/>
          </a:xfrm>
          <a:custGeom>
            <a:pathLst>
              <a:path w="620" h="620">
                <a:moveTo>
                  <a:pt x="460" y="581"/>
                </a:moveTo>
                <a:lnTo>
                  <a:pt x="458" y="583"/>
                </a:lnTo>
                <a:lnTo>
                  <a:pt x="451" y="586"/>
                </a:lnTo>
                <a:lnTo>
                  <a:pt x="444" y="589"/>
                </a:lnTo>
                <a:lnTo>
                  <a:pt x="438" y="593"/>
                </a:lnTo>
                <a:lnTo>
                  <a:pt x="431" y="596"/>
                </a:lnTo>
                <a:lnTo>
                  <a:pt x="424" y="598"/>
                </a:lnTo>
                <a:lnTo>
                  <a:pt x="417" y="601"/>
                </a:lnTo>
                <a:lnTo>
                  <a:pt x="409" y="604"/>
                </a:lnTo>
                <a:lnTo>
                  <a:pt x="402" y="606"/>
                </a:lnTo>
                <a:lnTo>
                  <a:pt x="395" y="608"/>
                </a:lnTo>
                <a:lnTo>
                  <a:pt x="387" y="610"/>
                </a:lnTo>
                <a:lnTo>
                  <a:pt x="380" y="612"/>
                </a:lnTo>
                <a:lnTo>
                  <a:pt x="372" y="614"/>
                </a:lnTo>
                <a:lnTo>
                  <a:pt x="365" y="615"/>
                </a:lnTo>
                <a:lnTo>
                  <a:pt x="357" y="616"/>
                </a:lnTo>
                <a:lnTo>
                  <a:pt x="349" y="618"/>
                </a:lnTo>
                <a:lnTo>
                  <a:pt x="342" y="618"/>
                </a:lnTo>
                <a:lnTo>
                  <a:pt x="334" y="619"/>
                </a:lnTo>
                <a:lnTo>
                  <a:pt x="326" y="620"/>
                </a:lnTo>
                <a:lnTo>
                  <a:pt x="318" y="620"/>
                </a:lnTo>
                <a:lnTo>
                  <a:pt x="310" y="620"/>
                </a:lnTo>
                <a:lnTo>
                  <a:pt x="302" y="620"/>
                </a:lnTo>
                <a:lnTo>
                  <a:pt x="294" y="620"/>
                </a:lnTo>
                <a:lnTo>
                  <a:pt x="286" y="619"/>
                </a:lnTo>
                <a:lnTo>
                  <a:pt x="278" y="618"/>
                </a:lnTo>
                <a:lnTo>
                  <a:pt x="271" y="618"/>
                </a:lnTo>
                <a:lnTo>
                  <a:pt x="263" y="616"/>
                </a:lnTo>
                <a:lnTo>
                  <a:pt x="255" y="615"/>
                </a:lnTo>
                <a:lnTo>
                  <a:pt x="248" y="614"/>
                </a:lnTo>
                <a:lnTo>
                  <a:pt x="240" y="612"/>
                </a:lnTo>
                <a:lnTo>
                  <a:pt x="233" y="610"/>
                </a:lnTo>
                <a:lnTo>
                  <a:pt x="225" y="608"/>
                </a:lnTo>
                <a:lnTo>
                  <a:pt x="218" y="606"/>
                </a:lnTo>
                <a:lnTo>
                  <a:pt x="211" y="604"/>
                </a:lnTo>
                <a:lnTo>
                  <a:pt x="203" y="601"/>
                </a:lnTo>
                <a:lnTo>
                  <a:pt x="196" y="598"/>
                </a:lnTo>
                <a:lnTo>
                  <a:pt x="189" y="596"/>
                </a:lnTo>
                <a:lnTo>
                  <a:pt x="182" y="593"/>
                </a:lnTo>
                <a:lnTo>
                  <a:pt x="176" y="589"/>
                </a:lnTo>
                <a:lnTo>
                  <a:pt x="169" y="586"/>
                </a:lnTo>
                <a:lnTo>
                  <a:pt x="162" y="583"/>
                </a:lnTo>
                <a:lnTo>
                  <a:pt x="156" y="579"/>
                </a:lnTo>
                <a:lnTo>
                  <a:pt x="149" y="575"/>
                </a:lnTo>
                <a:lnTo>
                  <a:pt x="143" y="571"/>
                </a:lnTo>
                <a:lnTo>
                  <a:pt x="137" y="567"/>
                </a:lnTo>
                <a:lnTo>
                  <a:pt x="131" y="563"/>
                </a:lnTo>
                <a:lnTo>
                  <a:pt x="125" y="558"/>
                </a:lnTo>
                <a:lnTo>
                  <a:pt x="119" y="554"/>
                </a:lnTo>
                <a:lnTo>
                  <a:pt x="113" y="549"/>
                </a:lnTo>
                <a:lnTo>
                  <a:pt x="107" y="544"/>
                </a:lnTo>
                <a:lnTo>
                  <a:pt x="102" y="539"/>
                </a:lnTo>
                <a:lnTo>
                  <a:pt x="96" y="534"/>
                </a:lnTo>
                <a:lnTo>
                  <a:pt x="91" y="529"/>
                </a:lnTo>
                <a:lnTo>
                  <a:pt x="86" y="524"/>
                </a:lnTo>
                <a:lnTo>
                  <a:pt x="81" y="518"/>
                </a:lnTo>
                <a:lnTo>
                  <a:pt x="76" y="513"/>
                </a:lnTo>
                <a:lnTo>
                  <a:pt x="71" y="507"/>
                </a:lnTo>
                <a:lnTo>
                  <a:pt x="66" y="501"/>
                </a:lnTo>
                <a:lnTo>
                  <a:pt x="62" y="495"/>
                </a:lnTo>
                <a:lnTo>
                  <a:pt x="57" y="489"/>
                </a:lnTo>
                <a:lnTo>
                  <a:pt x="53" y="483"/>
                </a:lnTo>
                <a:lnTo>
                  <a:pt x="49" y="477"/>
                </a:lnTo>
                <a:lnTo>
                  <a:pt x="45" y="471"/>
                </a:lnTo>
                <a:lnTo>
                  <a:pt x="41" y="464"/>
                </a:lnTo>
                <a:lnTo>
                  <a:pt x="37" y="458"/>
                </a:lnTo>
                <a:lnTo>
                  <a:pt x="34" y="451"/>
                </a:lnTo>
                <a:lnTo>
                  <a:pt x="31" y="444"/>
                </a:lnTo>
                <a:lnTo>
                  <a:pt x="27" y="438"/>
                </a:lnTo>
                <a:lnTo>
                  <a:pt x="24" y="431"/>
                </a:lnTo>
                <a:lnTo>
                  <a:pt x="22" y="424"/>
                </a:lnTo>
                <a:lnTo>
                  <a:pt x="19" y="417"/>
                </a:lnTo>
                <a:lnTo>
                  <a:pt x="16" y="409"/>
                </a:lnTo>
                <a:lnTo>
                  <a:pt x="14" y="402"/>
                </a:lnTo>
                <a:lnTo>
                  <a:pt x="12" y="395"/>
                </a:lnTo>
                <a:lnTo>
                  <a:pt x="10" y="387"/>
                </a:lnTo>
                <a:lnTo>
                  <a:pt x="8" y="380"/>
                </a:lnTo>
                <a:lnTo>
                  <a:pt x="6" y="372"/>
                </a:lnTo>
                <a:lnTo>
                  <a:pt x="5" y="365"/>
                </a:lnTo>
                <a:lnTo>
                  <a:pt x="4" y="357"/>
                </a:lnTo>
                <a:lnTo>
                  <a:pt x="2" y="349"/>
                </a:lnTo>
                <a:lnTo>
                  <a:pt x="2" y="342"/>
                </a:lnTo>
                <a:lnTo>
                  <a:pt x="1" y="334"/>
                </a:lnTo>
                <a:lnTo>
                  <a:pt x="0" y="326"/>
                </a:lnTo>
                <a:lnTo>
                  <a:pt x="0" y="318"/>
                </a:lnTo>
                <a:lnTo>
                  <a:pt x="0" y="310"/>
                </a:lnTo>
                <a:lnTo>
                  <a:pt x="0" y="302"/>
                </a:lnTo>
                <a:lnTo>
                  <a:pt x="0" y="294"/>
                </a:lnTo>
                <a:lnTo>
                  <a:pt x="1" y="286"/>
                </a:lnTo>
                <a:lnTo>
                  <a:pt x="2" y="278"/>
                </a:lnTo>
                <a:lnTo>
                  <a:pt x="2" y="271"/>
                </a:lnTo>
                <a:lnTo>
                  <a:pt x="4" y="263"/>
                </a:lnTo>
                <a:lnTo>
                  <a:pt x="5" y="255"/>
                </a:lnTo>
                <a:lnTo>
                  <a:pt x="6" y="248"/>
                </a:lnTo>
                <a:lnTo>
                  <a:pt x="8" y="240"/>
                </a:lnTo>
                <a:lnTo>
                  <a:pt x="10" y="233"/>
                </a:lnTo>
                <a:lnTo>
                  <a:pt x="12" y="225"/>
                </a:lnTo>
                <a:lnTo>
                  <a:pt x="14" y="218"/>
                </a:lnTo>
                <a:lnTo>
                  <a:pt x="16" y="211"/>
                </a:lnTo>
                <a:lnTo>
                  <a:pt x="19" y="203"/>
                </a:lnTo>
                <a:lnTo>
                  <a:pt x="22" y="196"/>
                </a:lnTo>
                <a:lnTo>
                  <a:pt x="24" y="189"/>
                </a:lnTo>
                <a:lnTo>
                  <a:pt x="27" y="182"/>
                </a:lnTo>
                <a:lnTo>
                  <a:pt x="29" y="180"/>
                </a:lnTo>
                <a:lnTo>
                  <a:pt x="460" y="18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7048500" y="4572000"/>
            <a:ext cx="4381500" cy="4381500"/>
          </a:xfrm>
          <a:custGeom>
            <a:pathLst>
              <a:path w="460" h="460">
                <a:moveTo>
                  <a:pt x="236" y="0"/>
                </a:moveTo>
                <a:lnTo>
                  <a:pt x="242" y="0"/>
                </a:lnTo>
                <a:lnTo>
                  <a:pt x="248" y="1"/>
                </a:lnTo>
                <a:lnTo>
                  <a:pt x="254" y="1"/>
                </a:lnTo>
                <a:lnTo>
                  <a:pt x="259" y="2"/>
                </a:lnTo>
                <a:lnTo>
                  <a:pt x="265" y="3"/>
                </a:lnTo>
                <a:lnTo>
                  <a:pt x="271" y="4"/>
                </a:lnTo>
                <a:lnTo>
                  <a:pt x="276" y="5"/>
                </a:lnTo>
                <a:lnTo>
                  <a:pt x="282" y="6"/>
                </a:lnTo>
                <a:lnTo>
                  <a:pt x="287" y="7"/>
                </a:lnTo>
                <a:lnTo>
                  <a:pt x="293" y="9"/>
                </a:lnTo>
                <a:lnTo>
                  <a:pt x="298" y="10"/>
                </a:lnTo>
                <a:lnTo>
                  <a:pt x="304" y="12"/>
                </a:lnTo>
                <a:lnTo>
                  <a:pt x="309" y="14"/>
                </a:lnTo>
                <a:lnTo>
                  <a:pt x="314" y="16"/>
                </a:lnTo>
                <a:lnTo>
                  <a:pt x="319" y="18"/>
                </a:lnTo>
                <a:lnTo>
                  <a:pt x="325" y="20"/>
                </a:lnTo>
                <a:lnTo>
                  <a:pt x="330" y="23"/>
                </a:lnTo>
                <a:lnTo>
                  <a:pt x="335" y="25"/>
                </a:lnTo>
                <a:lnTo>
                  <a:pt x="340" y="28"/>
                </a:lnTo>
                <a:lnTo>
                  <a:pt x="344" y="30"/>
                </a:lnTo>
                <a:lnTo>
                  <a:pt x="349" y="33"/>
                </a:lnTo>
                <a:lnTo>
                  <a:pt x="354" y="36"/>
                </a:lnTo>
                <a:lnTo>
                  <a:pt x="359" y="39"/>
                </a:lnTo>
                <a:lnTo>
                  <a:pt x="363" y="42"/>
                </a:lnTo>
                <a:lnTo>
                  <a:pt x="368" y="46"/>
                </a:lnTo>
                <a:lnTo>
                  <a:pt x="372" y="49"/>
                </a:lnTo>
                <a:lnTo>
                  <a:pt x="376" y="53"/>
                </a:lnTo>
                <a:lnTo>
                  <a:pt x="380" y="56"/>
                </a:lnTo>
                <a:lnTo>
                  <a:pt x="385" y="60"/>
                </a:lnTo>
                <a:lnTo>
                  <a:pt x="389" y="64"/>
                </a:lnTo>
                <a:lnTo>
                  <a:pt x="393" y="67"/>
                </a:lnTo>
                <a:lnTo>
                  <a:pt x="396" y="71"/>
                </a:lnTo>
                <a:lnTo>
                  <a:pt x="400" y="75"/>
                </a:lnTo>
                <a:lnTo>
                  <a:pt x="404" y="80"/>
                </a:lnTo>
                <a:lnTo>
                  <a:pt x="407" y="84"/>
                </a:lnTo>
                <a:lnTo>
                  <a:pt x="411" y="88"/>
                </a:lnTo>
                <a:lnTo>
                  <a:pt x="414" y="92"/>
                </a:lnTo>
                <a:lnTo>
                  <a:pt x="418" y="97"/>
                </a:lnTo>
                <a:lnTo>
                  <a:pt x="421" y="101"/>
                </a:lnTo>
                <a:lnTo>
                  <a:pt x="424" y="106"/>
                </a:lnTo>
                <a:lnTo>
                  <a:pt x="427" y="111"/>
                </a:lnTo>
                <a:lnTo>
                  <a:pt x="430" y="116"/>
                </a:lnTo>
                <a:lnTo>
                  <a:pt x="432" y="120"/>
                </a:lnTo>
                <a:lnTo>
                  <a:pt x="435" y="125"/>
                </a:lnTo>
                <a:lnTo>
                  <a:pt x="437" y="130"/>
                </a:lnTo>
                <a:lnTo>
                  <a:pt x="440" y="135"/>
                </a:lnTo>
                <a:lnTo>
                  <a:pt x="442" y="141"/>
                </a:lnTo>
                <a:lnTo>
                  <a:pt x="444" y="146"/>
                </a:lnTo>
                <a:lnTo>
                  <a:pt x="446" y="151"/>
                </a:lnTo>
                <a:lnTo>
                  <a:pt x="448" y="156"/>
                </a:lnTo>
                <a:lnTo>
                  <a:pt x="450" y="162"/>
                </a:lnTo>
                <a:lnTo>
                  <a:pt x="451" y="167"/>
                </a:lnTo>
                <a:lnTo>
                  <a:pt x="453" y="173"/>
                </a:lnTo>
                <a:lnTo>
                  <a:pt x="454" y="178"/>
                </a:lnTo>
                <a:lnTo>
                  <a:pt x="455" y="184"/>
                </a:lnTo>
                <a:lnTo>
                  <a:pt x="456" y="189"/>
                </a:lnTo>
                <a:lnTo>
                  <a:pt x="457" y="195"/>
                </a:lnTo>
                <a:lnTo>
                  <a:pt x="458" y="201"/>
                </a:lnTo>
                <a:lnTo>
                  <a:pt x="459" y="206"/>
                </a:lnTo>
                <a:lnTo>
                  <a:pt x="459" y="212"/>
                </a:lnTo>
                <a:lnTo>
                  <a:pt x="460" y="218"/>
                </a:lnTo>
                <a:lnTo>
                  <a:pt x="460" y="224"/>
                </a:lnTo>
                <a:lnTo>
                  <a:pt x="460" y="230"/>
                </a:lnTo>
                <a:lnTo>
                  <a:pt x="460" y="236"/>
                </a:lnTo>
                <a:lnTo>
                  <a:pt x="460" y="240"/>
                </a:lnTo>
                <a:lnTo>
                  <a:pt x="0" y="240"/>
                </a:lnTo>
                <a:lnTo>
                  <a:pt x="0" y="236"/>
                </a:lnTo>
                <a:lnTo>
                  <a:pt x="0" y="230"/>
                </a:lnTo>
                <a:lnTo>
                  <a:pt x="0" y="224"/>
                </a:lnTo>
                <a:lnTo>
                  <a:pt x="0" y="218"/>
                </a:lnTo>
                <a:lnTo>
                  <a:pt x="1" y="212"/>
                </a:lnTo>
                <a:lnTo>
                  <a:pt x="1" y="206"/>
                </a:lnTo>
                <a:lnTo>
                  <a:pt x="2" y="201"/>
                </a:lnTo>
                <a:lnTo>
                  <a:pt x="3" y="195"/>
                </a:lnTo>
                <a:lnTo>
                  <a:pt x="4" y="189"/>
                </a:lnTo>
                <a:lnTo>
                  <a:pt x="5" y="184"/>
                </a:lnTo>
                <a:lnTo>
                  <a:pt x="6" y="178"/>
                </a:lnTo>
                <a:lnTo>
                  <a:pt x="7" y="173"/>
                </a:lnTo>
                <a:lnTo>
                  <a:pt x="9" y="167"/>
                </a:lnTo>
                <a:lnTo>
                  <a:pt x="10" y="162"/>
                </a:lnTo>
                <a:lnTo>
                  <a:pt x="12" y="156"/>
                </a:lnTo>
                <a:lnTo>
                  <a:pt x="14" y="151"/>
                </a:lnTo>
                <a:lnTo>
                  <a:pt x="16" y="146"/>
                </a:lnTo>
                <a:lnTo>
                  <a:pt x="18" y="141"/>
                </a:lnTo>
                <a:lnTo>
                  <a:pt x="20" y="135"/>
                </a:lnTo>
                <a:lnTo>
                  <a:pt x="23" y="130"/>
                </a:lnTo>
                <a:lnTo>
                  <a:pt x="25" y="125"/>
                </a:lnTo>
                <a:lnTo>
                  <a:pt x="28" y="120"/>
                </a:lnTo>
                <a:lnTo>
                  <a:pt x="30" y="116"/>
                </a:lnTo>
                <a:lnTo>
                  <a:pt x="33" y="111"/>
                </a:lnTo>
                <a:lnTo>
                  <a:pt x="36" y="106"/>
                </a:lnTo>
                <a:lnTo>
                  <a:pt x="39" y="101"/>
                </a:lnTo>
                <a:lnTo>
                  <a:pt x="42" y="97"/>
                </a:lnTo>
                <a:lnTo>
                  <a:pt x="46" y="92"/>
                </a:lnTo>
                <a:lnTo>
                  <a:pt x="49" y="88"/>
                </a:lnTo>
                <a:lnTo>
                  <a:pt x="53" y="84"/>
                </a:lnTo>
                <a:lnTo>
                  <a:pt x="56" y="80"/>
                </a:lnTo>
                <a:lnTo>
                  <a:pt x="60" y="75"/>
                </a:lnTo>
                <a:lnTo>
                  <a:pt x="64" y="71"/>
                </a:lnTo>
                <a:lnTo>
                  <a:pt x="67" y="67"/>
                </a:lnTo>
                <a:lnTo>
                  <a:pt x="71" y="64"/>
                </a:lnTo>
                <a:lnTo>
                  <a:pt x="75" y="60"/>
                </a:lnTo>
                <a:lnTo>
                  <a:pt x="80" y="56"/>
                </a:lnTo>
                <a:lnTo>
                  <a:pt x="84" y="53"/>
                </a:lnTo>
                <a:lnTo>
                  <a:pt x="88" y="49"/>
                </a:lnTo>
                <a:lnTo>
                  <a:pt x="92" y="46"/>
                </a:lnTo>
                <a:lnTo>
                  <a:pt x="97" y="42"/>
                </a:lnTo>
                <a:lnTo>
                  <a:pt x="101" y="39"/>
                </a:lnTo>
                <a:lnTo>
                  <a:pt x="106" y="36"/>
                </a:lnTo>
                <a:lnTo>
                  <a:pt x="111" y="33"/>
                </a:lnTo>
                <a:lnTo>
                  <a:pt x="116" y="30"/>
                </a:lnTo>
                <a:lnTo>
                  <a:pt x="120" y="28"/>
                </a:lnTo>
                <a:lnTo>
                  <a:pt x="125" y="25"/>
                </a:lnTo>
                <a:lnTo>
                  <a:pt x="130" y="23"/>
                </a:lnTo>
                <a:lnTo>
                  <a:pt x="135" y="20"/>
                </a:lnTo>
                <a:lnTo>
                  <a:pt x="141" y="18"/>
                </a:lnTo>
                <a:lnTo>
                  <a:pt x="146" y="16"/>
                </a:lnTo>
                <a:lnTo>
                  <a:pt x="151" y="14"/>
                </a:lnTo>
                <a:lnTo>
                  <a:pt x="156" y="12"/>
                </a:lnTo>
                <a:lnTo>
                  <a:pt x="162" y="10"/>
                </a:lnTo>
                <a:lnTo>
                  <a:pt x="167" y="9"/>
                </a:lnTo>
                <a:lnTo>
                  <a:pt x="173" y="7"/>
                </a:lnTo>
                <a:lnTo>
                  <a:pt x="178" y="6"/>
                </a:lnTo>
                <a:lnTo>
                  <a:pt x="184" y="5"/>
                </a:lnTo>
                <a:lnTo>
                  <a:pt x="189" y="4"/>
                </a:lnTo>
                <a:lnTo>
                  <a:pt x="195" y="3"/>
                </a:lnTo>
                <a:lnTo>
                  <a:pt x="201" y="2"/>
                </a:lnTo>
                <a:lnTo>
                  <a:pt x="206" y="1"/>
                </a:lnTo>
                <a:lnTo>
                  <a:pt x="212" y="1"/>
                </a:lnTo>
                <a:lnTo>
                  <a:pt x="218" y="0"/>
                </a:lnTo>
                <a:lnTo>
                  <a:pt x="224" y="0"/>
                </a:lnTo>
                <a:lnTo>
                  <a:pt x="230" y="0"/>
                </a:lnTo>
                <a:close/>
              </a:path>
            </a:pathLst>
          </a:custGeom>
          <a:solidFill>
            <a:srgbClr val="2196F3">
              <a:alpha val="18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571500" y="238125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196F3"/>
          </a:solidFill>
          <a:ln/>
        </p:spPr>
        <p:txBody>
          <a:bodyPr/>
          <a:p/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28650" y="295275"/>
            <a:ext cx="171450" cy="1714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71550" y="285750"/>
            <a:ext cx="2533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75">
                <a:solidFill>
                  <a:srgbClr val="FFFFFF"/>
                </a:solidFill>
                <a:latin typeface="Microsoft YaHei"/>
                <a:ea typeface="Microsoft YaHei"/>
              </a:rPr>
              <a:t>视觉软件</a:t>
            </a:r>
            <a:r>
              <a:rPr lang="en-US" sz="1275" b="1" spc="75">
                <a:solidFill>
                  <a:srgbClr val="FFFFFF"/>
                </a:solidFill>
                <a:latin typeface="Microsoft YaHei"/>
                <a:ea typeface="Microsoft YaHei"/>
              </a:rPr>
              <a:t> SunEyeVision</a:t>
            </a:r>
            <a:r>
              <a:rPr lang="zh-CN" sz="1275" b="1" spc="75">
                <a:solidFill>
                  <a:srgbClr val="FFFFFF"/>
                </a:solidFill>
                <a:latin typeface="Microsoft YaHei"/>
                <a:ea typeface="Microsoft YaHei"/>
              </a:rPr>
              <a:t>（</a:t>
            </a:r>
            <a:r>
              <a:rPr lang="en-US" sz="1275" b="1" spc="75">
                <a:solidFill>
                  <a:srgbClr val="FFFFFF"/>
                </a:solidFill>
                <a:latin typeface="Microsoft YaHei"/>
                <a:ea typeface="Microsoft YaHei"/>
              </a:rPr>
              <a:t>V2</a:t>
            </a:r>
            <a:r>
              <a:rPr lang="zh-CN" sz="1275" b="1" spc="75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629900" y="30480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FC3E0"/>
                </a:solidFill>
                <a:latin typeface="Microsoft YaHei"/>
                <a:ea typeface="Microsoft YaHei"/>
              </a:rPr>
              <a:t>视觉引导抓取平台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571500" y="1590675"/>
            <a:ext cx="2381250" cy="266700"/>
          </a:xfrm>
          <a:prstGeom prst="roundRect">
            <a:avLst>
              <a:gd name="adj" fmla="val 356785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pic>
        <p:nvPicPr>
          <p:cNvPr id="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4850" y="1657350"/>
            <a:ext cx="142875" cy="142875"/>
          </a:xfrm>
          <a:prstGeom prst="rect">
            <a:avLst/>
          </a:prstGeom>
          <a:ln/>
        </p:spPr>
      </p:pic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42975" y="1647825"/>
            <a:ext cx="981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CEAF6"/>
                </a:solidFill>
                <a:latin typeface="Microsoft YaHei"/>
                <a:ea typeface="Microsoft YaHei"/>
              </a:rPr>
              <a:t>2026-10-01 </a:t>
            </a:r>
            <a:r>
              <a:rPr lang="zh-CN" sz="975">
                <a:solidFill>
                  <a:srgbClr val="DCEAF6"/>
                </a:solidFill>
                <a:latin typeface="Microsoft YaHei"/>
                <a:ea typeface="Microsoft YaHei"/>
              </a:rPr>
              <a:t>汇报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71500" y="2009775"/>
            <a:ext cx="6410325" cy="10287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850" b="1" spc="-75">
                <a:solidFill>
                  <a:srgbClr val="FFFFFF"/>
                </a:solidFill>
                <a:latin typeface="Microsoft YaHei"/>
                <a:ea typeface="Microsoft YaHei"/>
              </a:rPr>
              <a:t>软件开发汇报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71500" y="3190875"/>
            <a:ext cx="6410325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BBD6EC"/>
                </a:solidFill>
                <a:latin typeface="Microsoft YaHei"/>
                <a:ea typeface="Microsoft YaHei"/>
              </a:rPr>
              <a:t>已完成产出</a:t>
            </a:r>
            <a:r>
              <a:rPr lang="en-US" sz="1650">
                <a:solidFill>
                  <a:srgbClr val="BBD6EC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BBD6EC"/>
                </a:solidFill>
                <a:latin typeface="Microsoft YaHei"/>
                <a:ea typeface="Microsoft YaHei"/>
              </a:rPr>
              <a:t>当前在建</a:t>
            </a:r>
            <a:r>
              <a:rPr lang="en-US" sz="1650">
                <a:solidFill>
                  <a:srgbClr val="BBD6EC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BBD6EC"/>
                </a:solidFill>
                <a:latin typeface="Microsoft YaHei"/>
                <a:ea typeface="Microsoft YaHei"/>
              </a:rPr>
              <a:t>下一步计划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3724275"/>
            <a:ext cx="6410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C3E0"/>
                </a:solidFill>
                <a:latin typeface="Microsoft YaHei"/>
                <a:ea typeface="Microsoft YaHei"/>
              </a:rPr>
              <a:t>产品定位：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平台能力</a:t>
            </a:r>
            <a:r>
              <a:rPr lang="zh-CN" sz="1050">
                <a:solidFill>
                  <a:srgbClr val="9FC3E0"/>
                </a:solidFill>
                <a:latin typeface="Microsoft YaHei"/>
                <a:ea typeface="Microsoft YaHei"/>
              </a:rPr>
              <a:t>（协议与机型按现场挂载，可复用到多机型</a:t>
            </a:r>
            <a:r>
              <a:rPr lang="en-US" sz="1050">
                <a:solidFill>
                  <a:srgbClr val="9FC3E0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9FC3E0"/>
                </a:solidFill>
                <a:latin typeface="Microsoft YaHei"/>
                <a:ea typeface="Microsoft YaHei"/>
              </a:rPr>
              <a:t>多现场），非单一项目定制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609600" y="4076700"/>
            <a:ext cx="6410325" cy="1200150"/>
          </a:xfrm>
          <a:prstGeom prst="roundRect">
            <a:avLst>
              <a:gd name="adj" fmla="val 793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609600" y="4076700"/>
            <a:ext cx="6410325" cy="1200150"/>
          </a:xfrm>
          <a:custGeom>
            <a:pathLst>
              <a:path w="673" h="126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20"/>
                </a:lnTo>
                <a:cubicBezTo>
                  <a:pt x="4" y="123"/>
                  <a:pt x="6" y="125"/>
                  <a:pt x="9" y="126"/>
                </a:cubicBezTo>
                <a:cubicBezTo>
                  <a:pt x="4" y="125"/>
                  <a:pt x="0" y="121"/>
                  <a:pt x="0" y="11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8930C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781050" y="4210050"/>
            <a:ext cx="60293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EAF3FB"/>
                </a:solidFill>
                <a:latin typeface="Microsoft YaHei"/>
                <a:ea typeface="Microsoft YaHei"/>
              </a:rPr>
              <a:t>平台底座与视觉工具链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已成型</a:t>
            </a:r>
            <a:r>
              <a:rPr lang="zh-CN" sz="1275">
                <a:solidFill>
                  <a:srgbClr val="EAF3FB"/>
                </a:solidFill>
                <a:latin typeface="Microsoft YaHei"/>
                <a:ea typeface="Microsoft YaHei"/>
              </a:rPr>
              <a:t>，</a:t>
            </a:r>
            <a:r>
              <a:rPr lang="en-US" sz="1275">
                <a:solidFill>
                  <a:srgbClr val="EAF3FB"/>
                </a:solidFill>
                <a:latin typeface="Microsoft YaHei"/>
                <a:ea typeface="Microsoft YaHei"/>
              </a:rPr>
              <a:t>19 </a:t>
            </a:r>
            <a:r>
              <a:rPr lang="zh-CN" sz="1275">
                <a:solidFill>
                  <a:srgbClr val="EAF3FB"/>
                </a:solidFill>
                <a:latin typeface="Microsoft YaHei"/>
                <a:ea typeface="Microsoft YaHei"/>
              </a:rPr>
              <a:t>个工具插件</a:t>
            </a:r>
            <a:r>
              <a:rPr lang="zh-CN" sz="1275" b="1">
                <a:solidFill>
                  <a:srgbClr val="EAF3FB"/>
                </a:solidFill>
                <a:latin typeface="Microsoft YaHei"/>
                <a:ea typeface="Microsoft YaHei"/>
              </a:rPr>
              <a:t>可直接组流程演示</a:t>
            </a:r>
            <a:r>
              <a:rPr lang="zh-CN" sz="1275">
                <a:solidFill>
                  <a:srgbClr val="EAF3FB"/>
                </a:solidFill>
                <a:latin typeface="Microsoft YaHei"/>
                <a:ea typeface="Microsoft YaHei"/>
              </a:rPr>
              <a:t>；</a:t>
            </a:r>
            <a:r>
              <a:rPr lang="en-US" sz="1275">
                <a:solidFill>
                  <a:srgbClr val="EAF3FB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EAF3FB"/>
                </a:solidFill>
                <a:latin typeface="Microsoft YaHei"/>
                <a:ea typeface="Microsoft YaHei"/>
              </a:rPr>
              <a:t>测量工具链提前完工，当前收口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相机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通讯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图像源</a:t>
            </a:r>
            <a:r>
              <a:rPr lang="zh-CN" sz="1275">
                <a:solidFill>
                  <a:srgbClr val="EAF3FB"/>
                </a:solidFill>
                <a:latin typeface="Microsoft YaHei"/>
                <a:ea typeface="Microsoft YaHei"/>
              </a:rPr>
              <a:t>设备层；</a:t>
            </a:r>
            <a:endParaRPr/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EAF3FB"/>
                </a:solidFill>
                <a:latin typeface="Microsoft YaHei"/>
                <a:ea typeface="Microsoft YaHei"/>
              </a:rPr>
              <a:t>交付目标：</a:t>
            </a:r>
            <a:r>
              <a:rPr lang="en-US" sz="1275" b="1">
                <a:solidFill>
                  <a:srgbClr val="E8930C"/>
                </a:solidFill>
                <a:latin typeface="Microsoft YaHei"/>
                <a:ea typeface="Microsoft YaHei"/>
              </a:rPr>
              <a:t>12/31 </a:t>
            </a:r>
            <a:r>
              <a:rPr lang="zh-CN" sz="1275" b="1">
                <a:solidFill>
                  <a:srgbClr val="E8930C"/>
                </a:solidFill>
                <a:latin typeface="Microsoft YaHei"/>
                <a:ea typeface="Microsoft YaHei"/>
              </a:rPr>
              <a:t>具备引导抓取的演示能力</a:t>
            </a:r>
            <a:r>
              <a:rPr lang="zh-CN" sz="1275">
                <a:solidFill>
                  <a:srgbClr val="EAF3F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7267575" y="2171700"/>
            <a:ext cx="4352925" cy="1304925"/>
          </a:xfrm>
          <a:prstGeom prst="roundRect">
            <a:avLst>
              <a:gd name="adj" fmla="val 10219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477125" y="2343150"/>
            <a:ext cx="1733550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>
                <a:solidFill>
                  <a:srgbClr val="E8930C"/>
                </a:solidFill>
                <a:latin typeface="Microsoft YaHei"/>
                <a:ea typeface="Microsoft YaHei"/>
              </a:rPr>
              <a:t>71%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9324975" y="2905125"/>
            <a:ext cx="97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整体完成度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324975" y="3076575"/>
            <a:ext cx="971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FC3E0"/>
                </a:solidFill>
                <a:latin typeface="Microsoft YaHei"/>
                <a:ea typeface="Microsoft YaHei"/>
              </a:rPr>
              <a:t>197 / 276 </a:t>
            </a:r>
            <a:r>
              <a:rPr lang="zh-CN" sz="975">
                <a:solidFill>
                  <a:srgbClr val="9FC3E0"/>
                </a:solidFill>
                <a:latin typeface="Microsoft YaHei"/>
                <a:ea typeface="Microsoft YaHei"/>
              </a:rPr>
              <a:t>子任务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7267575" y="3629025"/>
            <a:ext cx="2105025" cy="1057275"/>
          </a:xfrm>
          <a:prstGeom prst="roundRect">
            <a:avLst>
              <a:gd name="adj" fmla="val 1261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439025" y="3781425"/>
            <a:ext cx="17621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19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439025" y="437197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BD6EC"/>
                </a:solidFill>
                <a:latin typeface="Microsoft YaHei"/>
                <a:ea typeface="Microsoft YaHei"/>
              </a:rPr>
              <a:t>已落地工具插件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9525000" y="3629025"/>
            <a:ext cx="2095500" cy="1057275"/>
          </a:xfrm>
          <a:prstGeom prst="roundRect">
            <a:avLst>
              <a:gd name="adj" fmla="val 1261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9696450" y="3781425"/>
            <a:ext cx="17526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E8930C"/>
                </a:solidFill>
                <a:latin typeface="Microsoft YaHei"/>
                <a:ea typeface="Microsoft YaHei"/>
              </a:rPr>
              <a:t>12/31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9696450" y="437197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BD6EC"/>
                </a:solidFill>
                <a:latin typeface="Microsoft YaHei"/>
                <a:ea typeface="Microsoft YaHei"/>
              </a:rPr>
              <a:t>引导抓取演示能力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838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B4D1"/>
                </a:solidFill>
                <a:latin typeface="Microsoft YaHei"/>
                <a:ea typeface="Microsoft YaHei"/>
              </a:rPr>
              <a:t>数据来源：</a:t>
            </a:r>
            <a:r>
              <a:rPr lang="en-US" sz="975">
                <a:solidFill>
                  <a:srgbClr val="8FB4D1"/>
                </a:solidFill>
                <a:latin typeface="Microsoft YaHei"/>
                <a:ea typeface="Microsoft YaHei"/>
              </a:rPr>
              <a:t>Git </a:t>
            </a:r>
            <a:r>
              <a:rPr lang="zh-CN" sz="975">
                <a:solidFill>
                  <a:srgbClr val="8FB4D1"/>
                </a:solidFill>
                <a:latin typeface="Microsoft YaHei"/>
                <a:ea typeface="Microsoft YaHei"/>
              </a:rPr>
              <a:t>提交记录</a:t>
            </a:r>
            <a:r>
              <a:rPr lang="en-US" sz="975">
                <a:solidFill>
                  <a:srgbClr val="8FB4D1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8FB4D1"/>
                </a:solidFill>
                <a:latin typeface="Microsoft YaHei"/>
                <a:ea typeface="Microsoft YaHei"/>
              </a:rPr>
              <a:t>计划看板</a:t>
            </a:r>
            <a:r>
              <a:rPr lang="en-US" sz="975">
                <a:solidFill>
                  <a:srgbClr val="8FB4D1"/>
                </a:solidFill>
                <a:latin typeface="Microsoft YaHei"/>
                <a:ea typeface="Microsoft YaHei"/>
              </a:rPr>
              <a:t> + docs </a:t>
            </a:r>
            <a:r>
              <a:rPr lang="zh-CN" sz="975">
                <a:solidFill>
                  <a:srgbClr val="8FB4D1"/>
                </a:solidFill>
                <a:latin typeface="Microsoft YaHei"/>
                <a:ea typeface="Microsoft YaHei"/>
              </a:rPr>
              <a:t>文档库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1268075" y="6400800"/>
            <a:ext cx="35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B4D1"/>
                </a:solidFill>
                <a:latin typeface="Microsoft YaHei"/>
                <a:ea typeface="Microsoft YaHei"/>
              </a:rPr>
              <a:t>01 / 4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0" name="" descr="&lt;Slide style={{&#10;    width: '1280px', height: '720px', position: 'relative', overflow: 'hidden',&#10;    background: '#FFFFFF', padding: '20px 60px',&#10;    fontFamily: '&quot;Microsoft YaHei&quot;, &quot;Segoe UI&quot;, sans-serif'&#10;}}&gt;&#10;    {/* A 区：标题块 */}&#10;    &lt;Box style={{ flexDirection: 'row', alignItems: 'center', height: 100, gap: 14 }}&gt;&#10;        &lt;Box style={{ width: 6, height: 38, background: '#2196F3', borderRadius: 3 }} /&gt;&#10;        &lt;Box style={{ flexDirection: 'column' }}&gt;&#10;            &lt;Text style={{ fontSize: 34, fontWeight: 700, color: '#0B2A45' }}&gt;已完成产出&lt;/Text&gt;&#10;            &lt;Text style={{ fontSize: 13, color: '#5B6B7C' }}&gt;&#10;                可演示 · 可安装 · 可追溯（数据来源：Git 提交 + 计划看板 + docs 文档库）&#10;            &lt;/Text&gt;&#10;        &lt;/Box&gt;&#10;        &lt;Box style={{ flex: 1 }} /&gt;&#10;        &lt;Box style={{&#10;            flexDirection: 'row', alignItems: 'center', gap: 8,&#10;            background: 'rgba(33,150,243,0.08)', padding: '7px 14px', borderRadius: 999&#10;        }}&gt;&#10;            &lt;FAIcon name='check-circle' style={{ fill: '#2196F3', width: 16, height: 16 }} /&gt;&#10;            &lt;Text style={{ fontSize: 14, color: '#14456E', fontWeight: 'bold' }}&gt;整体完成 197 / 276 子任务&lt;/Text&gt;&#10;        &lt;/Box&gt;&#10;    &lt;/Box&gt;&#10;&#10;    {/* B 区：左标题栏 + 右 6 产出块 */}&#10;    &lt;Box style={{ flexDirection: 'row', height: 440, gap: 24 }}&gt;&#10;        {/* 左：深蓝标题栏 */}&#10;        &lt;Box style={{&#10;            width: 280, background: '#0B2A45', borderRadius: 14, padding: '26px 22px',&#10;            justifyContent: 'space-between'&#10;        }}&gt;&#10;            &lt;Box style={{ flexDirection: 'column', gap: 14 }}&gt;&#10;                &lt;FAIcon name='layer-group' style={{ fill: '#2196F3', width: 40, height: 40 }} /&gt;&#10;                &lt;Text style={{ fontSize: 25, fontWeight: 800, color: '#ffffff', lineHeight: 1.35 }}&gt;&#10;                    五条线&#10;                    &lt;br /&gt;&#10;                    都已出活&#10;                &lt;/Text&gt;&#10;                &lt;Text style={{ fontSize: 15, color: '#BBD6EC', lineHeight: 1.6 }}&gt;&#10;                    平台底座、视觉工具、测量工具链、交付工程、质量与文档同时成型，&#10;                    任一块都可单独拿出来演示或交付。&#10;                &lt;/Text&gt;&#10;            &lt;/Box&gt;&#10;            &lt;Box style={{ flexDirection: 'column', gap: 6 }}&gt;&#10;                &lt;Text style={{ fontSize: 13, color: '#8FB4D1' }}&gt;在建（9 月下旬起）&lt;/Text&gt;&#10;                &lt;Text style={{ fontSize: 15, color: '#ffffff', fontWeight: 'bold' }}&gt;&#10;                    相机 · 通讯 · 图像源&#10;                &lt;/Text&gt;&#10;            &lt;/Box&gt;&#10;        &lt;/Box&gt;&#10;&#10;        {/* 右：6 个产出块（两列三行） */}&#10;        &lt;Box style={{ flex: 1, flexDirection: 'row', gap: 14 }}&gt;&#10;            {/* 第 1 列 */}&#10;            &lt;Box style={{ flex: 1, flexDirection: 'column', gap: 12 }}&gt;&#10;                &lt;Box style={{ flex: 1, background: 'rgba(33,150,243,0.06)', borderRadius: 12, padding: '13px 15px', flexDirection: 'column', gap: 5 }}&gt;&#10;                    &lt;Box style={{ flexDirection: 'row', alignItems: 'center', gap: 8 }}&gt;&#10;                        &lt;FAIcon name='cube' style={{ fill: '#2196F3', width: 20, height: 20 }} /&gt;&#10;                        &lt;Text style={{ fontSize: 21, fontWeight: 700, color: '#0B2A45' }}&gt;平台底座（14 模块）&lt;/Text&gt;&#10;                    &lt;/Box&gt;&#10;                    &lt;Text style={{ fontSize: 15, color: '#5B6B7C', lineHeight: 1.5 }}&gt;&#10;                        工作流画布与编辑器、路径算法、参数绑定、结果树、区域与 RoI、SDK 控件库、契约与类型系统&#10;                    &lt;/Text&gt;&#10;                &lt;/Box&gt;&#10;                &lt;Box style={{ flex: 1, background: 'rgba(33,150,243,0.06)', borderRadius: 12, padding: '13px 15px', flexDirection: 'column', gap: 5 }}&gt;&#10;                    &lt;Box style={{ flexDirection: 'row', alignItems: 'center', gap: 8 }}&gt;&#10;                        &lt;FAIcon name='thumbtack' style={{ fill: '#2196F3', width: 20, height: 20 }} /&gt;&#10;                        &lt;Text style={{ fontSize: 21, fontWeight: 700, color: '#0B2A45' }}&gt;视觉工具插件 19 个&lt;/Text&gt;&#10;                    &lt;/Box&gt;&#10;                    &lt;Text style={{ fontSize: 15, color: '#5B6B7C', lineHeight: 1.5 }}&gt;&#10;                        图像处理 5 · 引导匹配 3 · 几何测量 6 · 流程控制 3 · 分析标定 2（Blob、N 点标定）&#10;                    &lt;/Text&gt;&#10;                &lt;/Box&gt;&#10;                &lt;Box style={{ flex: 1, background: 'rgba(232,147,12,0.08)', borderRadius: 12, padding: '13px 15px', flexDirection: 'column', gap: 5 }}&gt;&#10;                    &lt;Box style={{ flexDirection: 'row', alignItems: 'center', gap: 8 }}&gt;&#10;                        &lt;FAIcon name='ruler-combined' style={{ fill: '#E8930C', width: 20, height: 20 }} /&gt;&#10;                        &lt;Text style={{ fontSize: 21, fontWeight: 700, color: '#0B2A45' }}&gt;测量工具链（9/28 完工）&lt;/Text&gt;&#10;                    &lt;/Box&gt;&#10;                    &lt;Text style={{ fontSize: 15, color: '#5B6B7C', lineHeight: 1.5 }}&gt;&#10;                        圆查找、直线查找 + 几何测量六件套：算法 + 双卡尺调试控件 + 契约测试齐备，较原里程碑提前 25 天&#10;                    &lt;/Text&gt;&#10;                &lt;/Box&gt;&#10;            &lt;/Box&gt;&#10;            {/* 第 2 列 */}&#10;            &lt;Box style={{ flex: 1, flexDirection: 'column', gap: 12 }}&gt;&#10;                &lt;Box style={{ flex: 1, background: 'rgba(33,150,243,0.06)', borderRadius: 12, padding: '13px 15px', flexDirection: 'column', gap: 5 }}&gt;&#10;                    &lt;Box style={{ flexDirection: 'row', alignItems: 'center', gap: 8 }}&gt;&#10;                        &lt;FAIcon name='box-open' style={{ fill: '#2196F3', width: 20, height: 20 }} /&gt;&#10;                        &lt;Text style={{ fontSize: 21, fontWeight: 700, color: '#0B2A45' }}&gt;交付工程化&lt;/Text&gt;&#10;                    &lt;/Box&gt;&#10;                    &lt;Text style={{ fontSize: 15, color: '#5B6B7C', lineHeight: 1.5 }}&gt;&#10;                        版本号单一真源 + 一键打包流水线；已产出安装包 2.0.0.1（alpha），含图标与文件关联&#10;                    &lt;/Text&gt;&#10;                &lt;/Box&gt;&#10;                &lt;Box style={{ flex: 1, background: 'rgba(33,150,243,0.06)', borderRadius: 12, padding: '13px 15px', flexDirection: 'column', gap: 5 }}&gt;&#10;                    &lt;Box style={{ flexDirection: 'row', alignItems: 'center', gap: 8 }}&gt;&#10;                        &lt;FAIcon name='clipboard-check' style={{ fill: '#2196F3', width: 20, height: 20 }} /&gt;&#10;                        &lt;Text style={{ fontSize: 21, fontWeight: 700, color: '#0B2A45' }}&gt;质量与文档&lt;/Text&gt;&#10;                    &lt;/Box&gt;&#10;                    &lt;Text style={{ fontSize: 15, color: '#5B6B7C', lineHeight: 1.5 }}&gt;&#10;                        28 个测试工程 / 607 个用例（已清除 8 个占位假测试）；337 篇文档，52/54 模块有方案文档&#10;                    &lt;/Text&gt;&#10;                &lt;/Box&gt;&#10;                &lt;Box style={{ flex: 1, background: 'rgba(33,150,243,0.06)', borderRadius: 12, padding: '13px 15px', flexDirection: 'column', gap: 5 }}&gt;&#10;                    &lt;Box style={{ flexDirection: 'row', alignItems: 'center', gap: 8 }}&gt;&#10;                        &lt;FAIcon name='users' style={{ fill: '#2196F3', width: 20, height: 20 }} /&gt;&#10;                        &lt;Text style={{ fontSize: 21, fontWeight: 700, color: '#0B2A45' }}&gt;两条并行线&lt;/Text&gt;&#10;                    &lt;/Box&gt;&#10;                    &lt;Text style={{ fontSize: 15, color: '#5B6B7C', lineHeight: 1.5 }}&gt;&#10;                        12prMO 客户现场调试交付（5–7 月）；SunAgent AI 赋能原型 71 次提交 / 约 3.2 万行&#10;                    &lt;/Text&gt;&#10;                &lt;/Box&gt;&#10;            &lt;/Box&gt;&#10;        &lt;/Box&gt;&#10;    &lt;/Box&gt;&#10;&#10;    {/* 在建状态条 */}&#10;    &lt;Box style={{ flexDirection: 'row', height: 60, gap: 14, marginTop: 16 }}&gt;&#10;        &lt;Box style={{&#10;            flexDirection: 'row', alignItems: 'center', gap: 10,&#10;            background: '#0B2A45', borderRadius: 12, padding: '0 18px', width: 210&#10;        }}&gt;&#10;            &lt;FAIcon name='hammer' style={{ fill: '#E8930C', width: 18, height: 18 }} /&gt;&#10;            &lt;Text style={{ fontSize: 16, fontWeight: 'bold', color: '#ffffff' }}&gt;当前在建&lt;/Text&gt;&#10;        &lt;/Box&gt;&#10;        &lt;Box style={{ flex: 1, flexDirection: 'row', gap: 12 }}&gt;&#10;            &lt;Box style={{ flex: 1, background: '#F5F8FB', borderRadius: 12, padding: '10px 14px', flexDirection: 'column', gap: 6 }}&gt;&#10;                &lt;Box style={{ flexDirection: 'row', justifyContent: 'space-between' }}&gt;&#10;                    &lt;Text style={{ fontSize: 16, fontWeight: 'bold', color: '#0B2A45' }}&gt;相机管理&lt;/Text&gt;&#10;                    &lt;Text style={{ fontSize: 14, color: '#E8930C', fontWeight: 'bold' }}&gt;3 / 4&lt;/Text&gt;&#10;                &lt;/Box&gt;&#10;                &lt;Box style={{ height: 6, background: '#E3E9EF', borderRadius: 3 }}&gt;&#10;                    &lt;Box style={{ width: '75%', height: 6, background: '#2196F3', borderRadius: 3 }} /&gt;&#10;                &lt;/Box&gt;&#10;            &lt;/Box&gt;&#10;            &lt;Box style={{ flex: 1, background: '#F5F8FB', borderRadius: 12, padding: '10px 14px', flexDirection: 'column', gap: 6 }}&gt;&#10;                &lt;Box style={{ flexDirection: 'row', justifyContent: 'space-between' }}&gt;&#10;                    &lt;Text style={{ fontSize: 16, fontWeight: 'bold', color: '#0B2A45' }}&gt;通讯管理&lt;/Text&gt;&#10;                    &lt;Text style={{ fontSize: 14, color: '#E8930C', fontWeight: 'bold' }}&gt;3 / 4&lt;/Text&gt;&#10;                &lt;/Box&gt;&#10;                &lt;Box style={{ height: 6, background: '#E3E9EF', borderRadius: 3 }}&gt;&#10;                    &lt;Box style={{ width: '75%', height: 6, background: '#2196F3', borderRadius: 3 }} /&gt;&#10;                &lt;/Box&gt;&#10;            &lt;/Box&gt;&#10;            &lt;Box style={{ flex: 1, background: '#F5F8FB', borderRadius: 12, padding: '10px 14px', flexDirection: 'column', gap: 6 }}&gt;&#10;                &lt;Box style={{ flexDirection: 'row', justifyContent: 'space-between' }}&gt;&#10;                    &lt;Text style={{ fontSize: 16, fontWeight: 'bold', color: '#0B2A45' }}&gt;图像源工具&lt;/Text&gt;&#10;                    &lt;Text style={{ fontSize: 14, color: '#E8930C', fontWeight: 'bold' }}&gt;1 / 3&lt;/Text&gt;&#10;                &lt;/Box&gt;&#10;                &lt;Box style={{ height: 6, background: '#E3E9EF', borderRadius: 3 }}&gt;&#10;                    &lt;Box style={{ width: '33%', height: 6, background: '#2196F3', borderRadius: 3 }} /&gt;&#10;                &lt;/Box&gt;&#10;            &lt;/Box&gt;&#10;            &lt;Box style={{&#10;                flex: 1.2, background: 'rgba(33,150,243,0.08)', borderRadius: 12, padding: '10px 14px',&#10;                flexDirection: 'column', justifyContent: 'center', gap: 3&#10;            }}&gt;&#10;                &lt;Text style={{ fontSize: 16, fontWeight: 'bold', color: '#0B2A45' }}&gt;标定工具链 · N 点标定&lt;/Text&gt;&#10;                &lt;Text style={{ fontSize: 13, color: '#5B6B7C' }}&gt;计划内工作提前启动，已落地 1,291 行&lt;/Text&gt;&#10;            &lt;/Box&gt;&#10;        &lt;/Box&gt;&#10;    &lt;/Box&gt;&#10;&#10;    {/* C 区：页脚 */}&#10;    &lt;Box style={{&#10;        flexDirection: 'row', alignItems: 'center', justifyContent: 'space-between',&#10;        height: 40, marginTop: 0&#10;    }}&gt;&#10;        &lt;Text style={{ fontSize: 13, color: '#8FB4D1' }}&gt;视觉软件 SunEyeVision · 软件开发汇报&lt;/Text&gt;&#10;        &lt;Text style={{ fontSize: 13, color: '#8FB4D1' }}&gt;02 / 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571500" y="4857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62000" y="400050"/>
            <a:ext cx="4162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A45"/>
                </a:solidFill>
                <a:latin typeface="Microsoft YaHei"/>
                <a:ea typeface="Microsoft YaHei"/>
              </a:rPr>
              <a:t>已完成产出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62000" y="790575"/>
            <a:ext cx="416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C"/>
                </a:solidFill>
                <a:latin typeface="Microsoft YaHei"/>
                <a:ea typeface="Microsoft YaHei"/>
              </a:rPr>
              <a:t>可演示</a:t>
            </a:r>
            <a:r>
              <a:rPr lang="en-US" sz="975">
                <a:solidFill>
                  <a:srgbClr val="5B6B7C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5B6B7C"/>
                </a:solidFill>
                <a:latin typeface="Microsoft YaHei"/>
                <a:ea typeface="Microsoft YaHei"/>
              </a:rPr>
              <a:t>可安装</a:t>
            </a:r>
            <a:r>
              <a:rPr lang="en-US" sz="975">
                <a:solidFill>
                  <a:srgbClr val="5B6B7C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5B6B7C"/>
                </a:solidFill>
                <a:latin typeface="Microsoft YaHei"/>
                <a:ea typeface="Microsoft YaHei"/>
              </a:rPr>
              <a:t>可追溯（数据来源：</a:t>
            </a:r>
            <a:r>
              <a:rPr lang="en-US" sz="975">
                <a:solidFill>
                  <a:srgbClr val="5B6B7C"/>
                </a:solidFill>
                <a:latin typeface="Microsoft YaHei"/>
                <a:ea typeface="Microsoft YaHei"/>
              </a:rPr>
              <a:t>Git </a:t>
            </a:r>
            <a:r>
              <a:rPr lang="zh-CN" sz="975">
                <a:solidFill>
                  <a:srgbClr val="5B6B7C"/>
                </a:solidFill>
                <a:latin typeface="Microsoft YaHei"/>
                <a:ea typeface="Microsoft YaHei"/>
              </a:rPr>
              <a:t>提交</a:t>
            </a:r>
            <a:r>
              <a:rPr lang="en-US" sz="975">
                <a:solidFill>
                  <a:srgbClr val="5B6B7C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5B6B7C"/>
                </a:solidFill>
                <a:latin typeface="Microsoft YaHei"/>
                <a:ea typeface="Microsoft YaHei"/>
              </a:rPr>
              <a:t>计划看板</a:t>
            </a:r>
            <a:r>
              <a:rPr lang="en-US" sz="975">
                <a:solidFill>
                  <a:srgbClr val="5B6B7C"/>
                </a:solidFill>
                <a:latin typeface="Microsoft YaHei"/>
                <a:ea typeface="Microsoft YaHei"/>
              </a:rPr>
              <a:t> + docs </a:t>
            </a:r>
            <a:r>
              <a:rPr lang="zh-CN" sz="975">
                <a:solidFill>
                  <a:srgbClr val="5B6B7C"/>
                </a:solidFill>
                <a:latin typeface="Microsoft YaHei"/>
                <a:ea typeface="Microsoft YaHei"/>
              </a:rPr>
              <a:t>文档库）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9467850" y="523875"/>
            <a:ext cx="2152650" cy="295275"/>
          </a:xfrm>
          <a:prstGeom prst="roundRect">
            <a:avLst>
              <a:gd name="adj" fmla="val 3222581"/>
            </a:avLst>
          </a:prstGeom>
          <a:solidFill>
            <a:srgbClr val="2196F3">
              <a:alpha val="8000"/>
            </a:srgbClr>
          </a:solidFill>
          <a:ln/>
        </p:spPr>
        <p:txBody>
          <a:bodyPr/>
          <a:p/>
        </p:txBody>
      </p:sp>
      <p:pic>
        <p:nvPicPr>
          <p:cNvPr id="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601200" y="600075"/>
            <a:ext cx="152400" cy="152400"/>
          </a:xfrm>
          <a:prstGeom prst="rect">
            <a:avLst/>
          </a:prstGeom>
          <a:ln/>
        </p:spPr>
      </p:pic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9829800" y="590550"/>
            <a:ext cx="1657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4456E"/>
                </a:solidFill>
                <a:latin typeface="Microsoft YaHei"/>
                <a:ea typeface="Microsoft YaHei"/>
              </a:rPr>
              <a:t>整体完成</a:t>
            </a:r>
            <a:r>
              <a:rPr lang="en-US" sz="1050" b="1">
                <a:solidFill>
                  <a:srgbClr val="14456E"/>
                </a:solidFill>
                <a:latin typeface="Microsoft YaHei"/>
                <a:ea typeface="Microsoft YaHei"/>
              </a:rPr>
              <a:t> 197 / 276 </a:t>
            </a:r>
            <a:r>
              <a:rPr lang="zh-CN" sz="1050" b="1">
                <a:solidFill>
                  <a:srgbClr val="14456E"/>
                </a:solidFill>
                <a:latin typeface="Microsoft YaHei"/>
                <a:ea typeface="Microsoft YaHei"/>
              </a:rPr>
              <a:t>子任务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571500" y="1143000"/>
            <a:ext cx="2667000" cy="4191000"/>
          </a:xfrm>
          <a:prstGeom prst="roundRect">
            <a:avLst>
              <a:gd name="adj" fmla="val 5000"/>
            </a:avLst>
          </a:prstGeom>
          <a:solidFill>
            <a:srgbClr val="0B2A45"/>
          </a:solidFill>
          <a:ln/>
        </p:spPr>
        <p:txBody>
          <a:bodyPr/>
          <a:p/>
        </p:txBody>
      </p:sp>
      <p:pic>
        <p:nvPicPr>
          <p:cNvPr id="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81050" y="1390650"/>
            <a:ext cx="381000" cy="381000"/>
          </a:xfrm>
          <a:prstGeom prst="rect">
            <a:avLst/>
          </a:prstGeom>
          <a:ln/>
        </p:spPr>
      </p:pic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81050" y="1905000"/>
            <a:ext cx="2247900" cy="7715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五条线</a:t>
            </a:r>
            <a:endParaRPr/>
          </a:p>
          <a:p>
            <a:pPr>
              <a:lnSpc>
                <a:spcPct val="135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都已出活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81050" y="2809875"/>
            <a:ext cx="22479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BBD6EC"/>
                </a:solidFill>
                <a:latin typeface="Microsoft YaHei"/>
                <a:ea typeface="Microsoft YaHei"/>
              </a:rPr>
              <a:t>平台底座、视觉工具、测量工具链、交付工程、质量与文档同时成型，</a:t>
            </a:r>
            <a:r>
              <a:rPr lang="en-US" sz="1125">
                <a:solidFill>
                  <a:srgbClr val="BBD6EC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BBD6EC"/>
                </a:solidFill>
                <a:latin typeface="Microsoft YaHei"/>
                <a:ea typeface="Microsoft YaHei"/>
              </a:rPr>
              <a:t>任一块都可单独拿出来演示或交付。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81050" y="4705350"/>
            <a:ext cx="2247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B4D1"/>
                </a:solidFill>
                <a:latin typeface="Microsoft YaHei"/>
                <a:ea typeface="Microsoft YaHei"/>
              </a:rPr>
              <a:t>在建（</a:t>
            </a:r>
            <a:r>
              <a:rPr lang="en-US" sz="975">
                <a:solidFill>
                  <a:srgbClr val="8FB4D1"/>
                </a:solidFill>
                <a:latin typeface="Microsoft YaHei"/>
                <a:ea typeface="Microsoft YaHei"/>
              </a:rPr>
              <a:t>9 </a:t>
            </a:r>
            <a:r>
              <a:rPr lang="zh-CN" sz="975">
                <a:solidFill>
                  <a:srgbClr val="8FB4D1"/>
                </a:solidFill>
                <a:latin typeface="Microsoft YaHei"/>
                <a:ea typeface="Microsoft YaHei"/>
              </a:rPr>
              <a:t>月下旬起）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81050" y="4914900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相机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通讯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图像源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3467100" y="1143000"/>
            <a:ext cx="4010025" cy="1323975"/>
          </a:xfrm>
          <a:prstGeom prst="roundRect">
            <a:avLst>
              <a:gd name="adj" fmla="val 8633"/>
            </a:avLst>
          </a:prstGeom>
          <a:solidFill>
            <a:srgbClr val="2196F3">
              <a:alpha val="6000"/>
            </a:srgbClr>
          </a:solidFill>
          <a:ln/>
        </p:spPr>
        <p:txBody>
          <a:bodyPr/>
          <a:p/>
        </p:txBody>
      </p:sp>
      <p:pic>
        <p:nvPicPr>
          <p:cNvPr id="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609975" y="1295400"/>
            <a:ext cx="190500" cy="190500"/>
          </a:xfrm>
          <a:prstGeom prst="rect">
            <a:avLst/>
          </a:prstGeom>
          <a:ln/>
        </p:spPr>
      </p:pic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3876675" y="1266825"/>
            <a:ext cx="1914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45"/>
                </a:solidFill>
                <a:latin typeface="Microsoft YaHei"/>
                <a:ea typeface="Microsoft YaHei"/>
              </a:rPr>
              <a:t>平台底座（</a:t>
            </a:r>
            <a:r>
              <a:rPr lang="en-US" sz="1575" b="1">
                <a:solidFill>
                  <a:srgbClr val="0B2A45"/>
                </a:solidFill>
                <a:latin typeface="Microsoft YaHei"/>
                <a:ea typeface="Microsoft YaHei"/>
              </a:rPr>
              <a:t>14 </a:t>
            </a:r>
            <a:r>
              <a:rPr lang="zh-CN" sz="1575" b="1">
                <a:solidFill>
                  <a:srgbClr val="0B2A45"/>
                </a:solidFill>
                <a:latin typeface="Microsoft YaHei"/>
                <a:ea typeface="Microsoft YaHei"/>
              </a:rPr>
              <a:t>模块）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609975" y="1562100"/>
            <a:ext cx="37242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工作流画布与编辑器、路径算法、参数绑定、结果树、区域与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RoI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SDK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控件库、契约与类型系统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3467100" y="2581275"/>
            <a:ext cx="4010025" cy="1314450"/>
          </a:xfrm>
          <a:prstGeom prst="roundRect">
            <a:avLst>
              <a:gd name="adj" fmla="val 8696"/>
            </a:avLst>
          </a:prstGeom>
          <a:solidFill>
            <a:srgbClr val="2196F3">
              <a:alpha val="6000"/>
            </a:srgbClr>
          </a:solidFill>
          <a:ln/>
        </p:spPr>
        <p:txBody>
          <a:bodyPr/>
          <a:p/>
        </p:txBody>
      </p:sp>
      <p:pic>
        <p:nvPicPr>
          <p:cNvPr id="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609975" y="2733675"/>
            <a:ext cx="190500" cy="190500"/>
          </a:xfrm>
          <a:prstGeom prst="rect">
            <a:avLst/>
          </a:prstGeom>
          <a:ln/>
        </p:spPr>
      </p:pic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3876675" y="2705100"/>
            <a:ext cx="1771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45"/>
                </a:solidFill>
                <a:latin typeface="Microsoft YaHei"/>
                <a:ea typeface="Microsoft YaHei"/>
              </a:rPr>
              <a:t>视觉工具插件</a:t>
            </a:r>
            <a:r>
              <a:rPr lang="en-US" sz="1575" b="1">
                <a:solidFill>
                  <a:srgbClr val="0B2A45"/>
                </a:solidFill>
                <a:latin typeface="Microsoft YaHei"/>
                <a:ea typeface="Microsoft YaHei"/>
              </a:rPr>
              <a:t> 19 </a:t>
            </a:r>
            <a:r>
              <a:rPr lang="zh-CN" sz="1575" b="1">
                <a:solidFill>
                  <a:srgbClr val="0B2A45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609975" y="3000375"/>
            <a:ext cx="37242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图像处理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5 ·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引导匹配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3 ·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几何测量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6 ·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流程控制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3 ·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分析标定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2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Blob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N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点标定）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3467100" y="4010025"/>
            <a:ext cx="4010025" cy="1323975"/>
          </a:xfrm>
          <a:prstGeom prst="roundRect">
            <a:avLst>
              <a:gd name="adj" fmla="val 8633"/>
            </a:avLst>
          </a:prstGeom>
          <a:solidFill>
            <a:srgbClr val="E8930C">
              <a:alpha val="8000"/>
            </a:srgbClr>
          </a:solidFill>
          <a:ln/>
        </p:spPr>
        <p:txBody>
          <a:bodyPr/>
          <a:p/>
        </p:txBody>
      </p:sp>
      <p:pic>
        <p:nvPicPr>
          <p:cNvPr id="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609975" y="4162425"/>
            <a:ext cx="190500" cy="190500"/>
          </a:xfrm>
          <a:prstGeom prst="rect">
            <a:avLst/>
          </a:prstGeom>
          <a:ln/>
        </p:spPr>
      </p:pic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876675" y="4133850"/>
            <a:ext cx="23336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45"/>
                </a:solidFill>
                <a:latin typeface="Microsoft YaHei"/>
                <a:ea typeface="Microsoft YaHei"/>
              </a:rPr>
              <a:t>测量工具链（</a:t>
            </a:r>
            <a:r>
              <a:rPr lang="en-US" sz="1575" b="1">
                <a:solidFill>
                  <a:srgbClr val="0B2A45"/>
                </a:solidFill>
                <a:latin typeface="Microsoft YaHei"/>
                <a:ea typeface="Microsoft YaHei"/>
              </a:rPr>
              <a:t>9/28 </a:t>
            </a:r>
            <a:r>
              <a:rPr lang="zh-CN" sz="1575" b="1">
                <a:solidFill>
                  <a:srgbClr val="0B2A45"/>
                </a:solidFill>
                <a:latin typeface="Microsoft YaHei"/>
                <a:ea typeface="Microsoft YaHei"/>
              </a:rPr>
              <a:t>完工）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609975" y="4429125"/>
            <a:ext cx="37242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圆查找、直线查找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几何测量六件套：算法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双卡尺调试控件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契约测试齐备，较原里程碑提前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25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7610475" y="1143000"/>
            <a:ext cx="4010025" cy="1323975"/>
          </a:xfrm>
          <a:prstGeom prst="roundRect">
            <a:avLst>
              <a:gd name="adj" fmla="val 8633"/>
            </a:avLst>
          </a:prstGeom>
          <a:solidFill>
            <a:srgbClr val="2196F3">
              <a:alpha val="6000"/>
            </a:srgbClr>
          </a:solidFill>
          <a:ln/>
        </p:spPr>
        <p:txBody>
          <a:bodyPr/>
          <a:p/>
        </p:txBody>
      </p:sp>
      <p:pic>
        <p:nvPicPr>
          <p:cNvPr id="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753350" y="1295400"/>
            <a:ext cx="190500" cy="190500"/>
          </a:xfrm>
          <a:prstGeom prst="rect">
            <a:avLst/>
          </a:prstGeom>
          <a:ln/>
        </p:spPr>
      </p:pic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020050" y="1266825"/>
            <a:ext cx="1000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45"/>
                </a:solidFill>
                <a:latin typeface="Microsoft YaHei"/>
                <a:ea typeface="Microsoft YaHei"/>
              </a:rPr>
              <a:t>交付工程化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753350" y="1562100"/>
            <a:ext cx="37242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版本号单一真源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一键打包流水线；已产出安装包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2.0.0.1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alpha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），含图标与文件关联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7610475" y="2581275"/>
            <a:ext cx="4010025" cy="1314450"/>
          </a:xfrm>
          <a:prstGeom prst="roundRect">
            <a:avLst>
              <a:gd name="adj" fmla="val 8696"/>
            </a:avLst>
          </a:prstGeom>
          <a:solidFill>
            <a:srgbClr val="2196F3">
              <a:alpha val="6000"/>
            </a:srgbClr>
          </a:solidFill>
          <a:ln/>
        </p:spPr>
        <p:txBody>
          <a:bodyPr/>
          <a:p/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7753350" y="2733675"/>
            <a:ext cx="190500" cy="190500"/>
          </a:xfrm>
          <a:prstGeom prst="rect">
            <a:avLst/>
          </a:prstGeom>
          <a:ln/>
        </p:spPr>
      </p:pic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020050" y="2705100"/>
            <a:ext cx="1000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45"/>
                </a:solidFill>
                <a:latin typeface="Microsoft YaHei"/>
                <a:ea typeface="Microsoft YaHei"/>
              </a:rPr>
              <a:t>质量与文档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753350" y="3000375"/>
            <a:ext cx="37242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28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个测试工程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/ 607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个用例（已清除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8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个占位假测试）；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337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篇文档，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52/54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模块有方案文档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7610475" y="4010025"/>
            <a:ext cx="4010025" cy="1323975"/>
          </a:xfrm>
          <a:prstGeom prst="roundRect">
            <a:avLst>
              <a:gd name="adj" fmla="val 8633"/>
            </a:avLst>
          </a:prstGeom>
          <a:solidFill>
            <a:srgbClr val="2196F3">
              <a:alpha val="6000"/>
            </a:srgbClr>
          </a:solidFill>
          <a:ln/>
        </p:spPr>
        <p:txBody>
          <a:bodyPr/>
          <a:p/>
        </p:txBody>
      </p:sp>
      <p:pic>
        <p:nvPicPr>
          <p:cNvPr id="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7753350" y="4162425"/>
            <a:ext cx="190500" cy="190500"/>
          </a:xfrm>
          <a:prstGeom prst="rect">
            <a:avLst/>
          </a:prstGeom>
          <a:ln/>
        </p:spPr>
      </p:pic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020050" y="4133850"/>
            <a:ext cx="1000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45"/>
                </a:solidFill>
                <a:latin typeface="Microsoft YaHei"/>
                <a:ea typeface="Microsoft YaHei"/>
              </a:rPr>
              <a:t>两条并行线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753350" y="4429125"/>
            <a:ext cx="37242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12prMO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客户现场调试交付（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5–7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月）；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SunAgent AI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赋能原型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71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次提交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约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3.2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万行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571500" y="5486400"/>
            <a:ext cx="2000250" cy="571500"/>
          </a:xfrm>
          <a:prstGeom prst="roundRect">
            <a:avLst>
              <a:gd name="adj" fmla="val 20000"/>
            </a:avLst>
          </a:prstGeom>
          <a:solidFill>
            <a:srgbClr val="0B2A45"/>
          </a:solidFill>
          <a:ln/>
        </p:spPr>
        <p:txBody>
          <a:bodyPr/>
          <a:p/>
        </p:txBody>
      </p:sp>
      <p:pic>
        <p:nvPicPr>
          <p:cNvPr id="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0" flipV="0">
            <a:off x="742950" y="5686425"/>
            <a:ext cx="171450" cy="171450"/>
          </a:xfrm>
          <a:prstGeom prst="rect">
            <a:avLst/>
          </a:prstGeom>
          <a:ln/>
        </p:spPr>
      </p:pic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009650" y="56769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当前在建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2705100" y="5486400"/>
            <a:ext cx="2038350" cy="571500"/>
          </a:xfrm>
          <a:prstGeom prst="roundRect">
            <a:avLst>
              <a:gd name="adj" fmla="val 20000"/>
            </a:avLst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2838450" y="55816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45"/>
                </a:solidFill>
                <a:latin typeface="Microsoft YaHei"/>
                <a:ea typeface="Microsoft YaHei"/>
              </a:rPr>
              <a:t>相机管理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295775" y="5581650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8930C"/>
                </a:solidFill>
                <a:latin typeface="Microsoft YaHei"/>
                <a:ea typeface="Microsoft YaHei"/>
              </a:rPr>
              <a:t>3 / 4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2838450" y="5829300"/>
            <a:ext cx="1771650" cy="57150"/>
          </a:xfrm>
          <a:prstGeom prst="roundRect">
            <a:avLst>
              <a:gd name="adj" fmla="val 50000"/>
            </a:avLst>
          </a:prstGeom>
          <a:solidFill>
            <a:srgbClr val="E3E9EF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2838450" y="5829300"/>
            <a:ext cx="1333500" cy="57150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4857750" y="5486400"/>
            <a:ext cx="2047875" cy="571500"/>
          </a:xfrm>
          <a:prstGeom prst="roundRect">
            <a:avLst>
              <a:gd name="adj" fmla="val 20000"/>
            </a:avLst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991100" y="55816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45"/>
                </a:solidFill>
                <a:latin typeface="Microsoft YaHei"/>
                <a:ea typeface="Microsoft YaHei"/>
              </a:rPr>
              <a:t>通讯管理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457950" y="5581650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8930C"/>
                </a:solidFill>
                <a:latin typeface="Microsoft YaHei"/>
                <a:ea typeface="Microsoft YaHei"/>
              </a:rPr>
              <a:t>3 / 4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4991100" y="5829300"/>
            <a:ext cx="1781175" cy="57150"/>
          </a:xfrm>
          <a:prstGeom prst="roundRect">
            <a:avLst>
              <a:gd name="adj" fmla="val 50000"/>
            </a:avLst>
          </a:prstGeom>
          <a:solidFill>
            <a:srgbClr val="E3E9EF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4991100" y="5829300"/>
            <a:ext cx="1333500" cy="57150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7019925" y="5486400"/>
            <a:ext cx="2038350" cy="571500"/>
          </a:xfrm>
          <a:prstGeom prst="roundRect">
            <a:avLst>
              <a:gd name="adj" fmla="val 20000"/>
            </a:avLst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153275" y="55816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45"/>
                </a:solidFill>
                <a:latin typeface="Microsoft YaHei"/>
                <a:ea typeface="Microsoft YaHei"/>
              </a:rPr>
              <a:t>图像源工具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610600" y="5581650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8930C"/>
                </a:solidFill>
                <a:latin typeface="Microsoft YaHei"/>
                <a:ea typeface="Microsoft YaHei"/>
              </a:rPr>
              <a:t>1 / 3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7153275" y="5829300"/>
            <a:ext cx="1771650" cy="57150"/>
          </a:xfrm>
          <a:prstGeom prst="roundRect">
            <a:avLst>
              <a:gd name="adj" fmla="val 50000"/>
            </a:avLst>
          </a:prstGeom>
          <a:solidFill>
            <a:srgbClr val="E3E9EF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7153275" y="5829300"/>
            <a:ext cx="581025" cy="57150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9172575" y="5486400"/>
            <a:ext cx="2447925" cy="571500"/>
          </a:xfrm>
          <a:prstGeom prst="roundRect">
            <a:avLst>
              <a:gd name="adj" fmla="val 20000"/>
            </a:avLst>
          </a:prstGeom>
          <a:solidFill>
            <a:srgbClr val="2196F3">
              <a:alpha val="8000"/>
            </a:srgbClr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305925" y="5591175"/>
            <a:ext cx="2181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45"/>
                </a:solidFill>
                <a:latin typeface="Microsoft YaHei"/>
                <a:ea typeface="Microsoft YaHei"/>
              </a:rPr>
              <a:t>标定工具链</a:t>
            </a:r>
            <a:r>
              <a:rPr lang="en-US" sz="1200" b="1">
                <a:solidFill>
                  <a:srgbClr val="0B2A45"/>
                </a:solidFill>
                <a:latin typeface="Microsoft YaHei"/>
                <a:ea typeface="Microsoft YaHei"/>
              </a:rPr>
              <a:t> · N </a:t>
            </a:r>
            <a:r>
              <a:rPr lang="zh-CN" sz="1200" b="1">
                <a:solidFill>
                  <a:srgbClr val="0B2A45"/>
                </a:solidFill>
                <a:latin typeface="Microsoft YaHei"/>
                <a:ea typeface="Microsoft YaHei"/>
              </a:rPr>
              <a:t>点标定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305925" y="5810250"/>
            <a:ext cx="2181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C"/>
                </a:solidFill>
                <a:latin typeface="Microsoft YaHei"/>
                <a:ea typeface="Microsoft YaHei"/>
              </a:rPr>
              <a:t>计划内工作提前启动，已落地</a:t>
            </a:r>
            <a:r>
              <a:rPr lang="en-US" sz="975">
                <a:solidFill>
                  <a:srgbClr val="5B6B7C"/>
                </a:solidFill>
                <a:latin typeface="Microsoft YaHei"/>
                <a:ea typeface="Microsoft YaHei"/>
              </a:rPr>
              <a:t> 1,291 </a:t>
            </a:r>
            <a:r>
              <a:rPr lang="zh-CN" sz="975">
                <a:solidFill>
                  <a:srgbClr val="5B6B7C"/>
                </a:solidFill>
                <a:latin typeface="Microsoft YaHei"/>
                <a:ea typeface="Microsoft YaHei"/>
              </a:rPr>
              <a:t>行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71500" y="6172200"/>
            <a:ext cx="2171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B4D1"/>
                </a:solidFill>
                <a:latin typeface="Microsoft YaHei"/>
                <a:ea typeface="Microsoft YaHei"/>
              </a:rPr>
              <a:t>视觉软件</a:t>
            </a:r>
            <a:r>
              <a:rPr lang="en-US" sz="975">
                <a:solidFill>
                  <a:srgbClr val="8FB4D1"/>
                </a:solidFill>
                <a:latin typeface="Microsoft YaHei"/>
                <a:ea typeface="Microsoft YaHei"/>
              </a:rPr>
              <a:t> SunEyeVision · </a:t>
            </a:r>
            <a:r>
              <a:rPr lang="zh-CN" sz="975">
                <a:solidFill>
                  <a:srgbClr val="8FB4D1"/>
                </a:solidFill>
                <a:latin typeface="Microsoft YaHei"/>
                <a:ea typeface="Microsoft YaHei"/>
              </a:rPr>
              <a:t>软件开发汇报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1268075" y="6172200"/>
            <a:ext cx="35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B4D1"/>
                </a:solidFill>
                <a:latin typeface="Microsoft YaHei"/>
                <a:ea typeface="Microsoft YaHei"/>
              </a:rPr>
              <a:t>02 / 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91" name="" descr="&lt;Slide style={{&#10;    width: '1280px', height: '720px', position: 'relative', overflow: 'hidden',&#10;    background: '#FFFFFF', padding: '20px 60px',&#10;    fontFamily: '&quot;Microsoft YaHei&quot;, &quot;Segoe UI&quot;, sans-serif'&#10;}}&gt;&#10;    {/* A 区 */}&#10;    &lt;Box style={{ flexDirection: 'row', alignItems: 'center', height: 100, gap: 14 }}&gt;&#10;        &lt;Box style={{ width: 6, height: 38, background: '#E8930C', borderRadius: 3 }} /&gt;&#10;        &lt;Box style={{ flexDirection: 'column' }}&gt;&#10;            &lt;Text style={{ fontSize: 34, fontWeight: 700, color: '#0B2A45' }}&gt;下一步计划&lt;/Text&gt;&#10;            &lt;Text style={{ fontSize: 13, color: '#5B6B7C' }}&gt;&#10;                10 月设备层收口 → 12 月打通引导抓取演示链路 · V1.0 正式版 2027-05-14&#10;            &lt;/Text&gt;&#10;        &lt;/Box&gt;&#10;        &lt;Box style={{ flex: 1 }} /&gt;&#10;        &lt;Box style={{&#10;            flexDirection: 'row', alignItems: 'center', gap: 8,&#10;            background: 'rgba(232,147,12,0.10)', padding: '7px 14px', borderRadius: 999&#10;        }}&gt;&#10;            &lt;FAIcon name='flag-checkered' style={{ fill: '#E8930C', width: 16, height: 16 }} /&gt;&#10;            &lt;Text style={{ fontSize: 14, color: '#8A5708', fontWeight: 'bold' }}&gt;交付目标：12/31 引导抓取演示&lt;/Text&gt;&#10;        &lt;/Box&gt;&#10;    &lt;/Box&gt;&#10;&#10;    {/* B 区：非对称双栏 60:40 */}&#10;    &lt;Box style={{ flexDirection: 'row', height: 516, gap: 26 }}&gt;&#10;        {/* 左：竖向时间轴 */}&#10;        &lt;Box style={{ flexDirection: 'column', width: 660, gap: 12 }}&gt;&#10;            &lt;Box style={{ flexDirection: 'row', gap: 14, alignItems: 'stretch' }}&gt;&#10;                &lt;Box style={{ width: 118, background: '#2196F3', borderRadius: 10, justifyContent: 'center', alignItems: 'center' }}&gt;&#10;                    &lt;Text style={{ fontSize: 20, fontWeight: 800, color: '#ffffff' }}&gt;10 月&lt;/Text&gt;&#10;                    &lt;Text style={{ fontSize: 12, color: '#DCEAF6' }}&gt;当前阶段&lt;/Text&gt;&#10;                &lt;/Box&gt;&#10;                &lt;Box style={{ flex: 1, background: 'rgba(33,150,243,0.06)', borderRadius: 10, padding: '12px 16px', flexDirection: 'column', gap: 4, justifyContent: 'center' }}&gt;&#10;                    &lt;Text style={{ fontSize: 20, fontWeight: 700, color: '#0B2A45' }}&gt;设备层收口&lt;/Text&gt;&#10;                    &lt;Text style={{ fontSize: 15, color: '#5B6B7C', lineHeight: 1.5 }}&gt;&#10;                        相机真机验证（海康 / 巴斯勒）、参数读写闭环；通讯链路测试（协议帧、异常、重连）&#10;                    &lt;/Text&gt;&#10;                    &lt;Text style={{ fontSize: 13, color: '#2196F3', fontWeight: 'bold' }}&gt;出口：设备层可对外演示&lt;/Text&gt;&#10;                &lt;/Box&gt;&#10;            &lt;/Box&gt;&#10;&#10;            &lt;Box style={{ flexDirection: 'row', gap: 14, alignItems: 'stretch' }}&gt;&#10;                &lt;Box style={{ width: 118, background: '#14456E', borderRadius: 10, justifyContent: 'center', alignItems: 'center' }}&gt;&#10;                    &lt;Text style={{ fontSize: 20, fontWeight: 800, color: '#ffffff' }}&gt;11 月&lt;/Text&gt;&#10;                &lt;/Box&gt;&#10;                &lt;Box style={{ flex: 1, background: '#F5F8FB', borderRadius: 10, padding: '12px 16px', flexDirection: 'column', gap: 4, justifyContent: 'center' }}&gt;&#10;                    &lt;Text style={{ fontSize: 20, fontWeight: 700, color: '#0B2A45' }}&gt;视觉链路贯通&lt;/Text&gt;&#10;                    &lt;Text style={{ fontSize: 15, color: '#5B6B7C', lineHeight: 1.5 }}&gt;&#10;                        图像源收口 + 定位工具链首版 + 坐标转换，串起「采图 → 定位 → 位姿输出」；通信工具按平台挂载&#10;                    &lt;/Text&gt;&#10;                    &lt;Text style={{ fontSize: 13, color: '#14456E', fontWeight: 'bold' }}&gt;出口：视觉链路可跑通&lt;/Text&gt;&#10;                &lt;/Box&gt;&#10;            &lt;/Box&gt;&#10;&#10;            &lt;Box style={{ flexDirection: 'row', gap: 14, alignItems: 'stretch' }}&gt;&#10;                &lt;Box style={{ width: 118, background: '#E8930C', borderRadius: 10, justifyContent: 'center', alignItems: 'center' }}&gt;&#10;                    &lt;Text style={{ fontSize: 20, fontWeight: 800, color: '#ffffff' }}&gt;12 月&lt;/Text&gt;&#10;                    &lt;Text style={{ fontSize: 12, color: '#FBE6C4' }}&gt;交付目标&lt;/Text&gt;&#10;                &lt;/Box&gt;&#10;                &lt;Box style={{ flex: 1, background: 'rgba(232,147,12,0.10)', borderRadius: 10, padding: '12px 16px', flexDirection: 'column', gap: 4, justifyContent: 'center' }}&gt;&#10;                    &lt;Text style={{ fontSize: 20, fontWeight: 700, color: '#0B2A45' }}&gt;引导抓取演示&lt;/Text&gt;&#10;                    &lt;Text style={{ fontSize: 15, color: '#5B6B7C', lineHeight: 1.5 }}&gt;&#10;                        机器人通信接入 + 端到端联调 + 演示场景打磨（抓取精度以演示口径验收）&#10;                    &lt;/Text&gt;&#10;                    &lt;Text style={{ fontSize: 13, color: '#8A5708', fontWeight: 'bold' }}&gt;出口：12/31 具备引导抓取演示能力&lt;/Text&gt;&#10;                &lt;/Box&gt;&#10;            &lt;/Box&gt;&#10;&#10;            &lt;Box style={{ flexDirection: 'row', gap: 14, alignItems: 'stretch' }}&gt;&#10;                &lt;Box style={{ width: 118, background: '#0B2A45', borderRadius: 10, justifyContent: 'center', alignItems: 'center' }}&gt;&#10;                    &lt;Text style={{ fontSize: 20, fontWeight: 800, color: '#ffffff' }}&gt;2027 Q1–Q2&lt;/Text&gt;&#10;                &lt;/Box&gt;&#10;                &lt;Box style={{ flex: 1, background: '#F5F8FB', borderRadius: 10, padding: '12px 16px', flexDirection: 'column', gap: 4, justifyContent: 'center' }}&gt;&#10;                    &lt;Text style={{ fontSize: 20, fontWeight: 700, color: '#0B2A45' }}&gt;精度与产品化&lt;/Text&gt;&#10;                    &lt;Text style={{ fontSize: 15, color: '#5B6B7C', lineHeight: 1.5 }}&gt;&#10;                        标定精度（内参 / 手眼）、可配置运行 UI（工程师配置 / 操作工运行分层）、用户手册&#10;                    &lt;/Text&gt;&#10;                    &lt;Text style={{ fontSize: 13, color: '#14456E', fontWeight: 'bold' }}&gt;出口：V1.0 正式版交付 2027-05-14&lt;/Text&gt;&#10;                &lt;/Box&gt;&#10;            &lt;/Box&gt;&#10;        &lt;/Box&gt;&#10;&#10;        {/* 右：交付目标锚点 + 判断 */}&#10;        &lt;Box style={{ flex: 1, flexDirection: 'column', gap: 14 }}&gt;&#10;            &lt;Box style={{&#10;                background: '#0B2A45', borderRadius: 14, padding: '18px 20px',&#10;                flexDirection: 'column', gap: 6&#10;            }}&gt;&#10;                &lt;Text style={{ fontSize: 13, color: '#8FB4D1' }}&gt;交付目标&lt;/Text&gt;&#10;                &lt;Box style={{ flexDirection: 'row', alignItems: 'flex-end', gap: 8 }}&gt;&#10;                    &lt;Text style={{ fontSize: 84, fontWeight: 800, color: '#E8930C', lineHeight: 1 }}&gt;12/31&lt;/Text&gt;&#10;                &lt;/Box&gt;&#10;                &lt;Text style={{ fontSize: 15, color: '#ffffff', fontWeight: 'bold' }}&gt;&#10;                    具备引导抓取的演示能力&#10;                &lt;/Text&gt;&#10;                &lt;Text style={{ fontSize: 14, color: '#BBD6EC', lineHeight: 1.5 }}&gt;&#10;                    正式版 V1.0 于 2027-05-14 交付；瓶颈仍在&lt;b&gt;硬件与现场验证&lt;/b&gt;。&#10;                &lt;/Text&gt;&#10;            &lt;/Box&gt;&#10;&#10;            &lt;Box style={{ flex: 1, background: 'rgba(33,150,243,0.06)', borderRadius: 14, padding: '16px 18px', flexDirection: 'column', gap: 10 }}&gt;&#10;                &lt;Text style={{ fontSize: 17, fontWeight: 700, color: '#0B2A45' }}&gt;本阶段三个判断&lt;/Text&gt;&#10;                &lt;Box style={{ flexDirection: 'row', gap: 10, alignItems: 'flex-start' }}&gt;&#10;                    &lt;FAIcon name='check-circle' style={{ fill: '#2196F3', width: 18, height: 18 }} /&gt;&#10;                    &lt;Text style={{ fontSize: 14, color: '#5B6B7C', lineHeight: 1.5 }}&gt;&#10;                        12/31 验收的是&quot;演示能力&quot;：优先打通 采图 → 定位 → 抓取 主链路，不追求功能齐备&#10;                    &lt;/Text&gt;&#10;                &lt;/Box&gt;&#10;                &lt;Box style={{ flexDirection: 'row', gap: 10, alignItems: 'flex-start' }}&gt;&#10;                    &lt;FAIcon name='check-circle' style={{ fill: '#2196F3', width: 18, height: 18 }} /&gt;&#10;                    &lt;Text style={{ fontSize: 14, color: '#5B6B7C', lineHeight: 1.5 }}&gt;&#10;                        相机与机器人本体需尽早到位，硬件是当前最大不确定性&#10;                    &lt;/Text&gt;&#10;                &lt;/Box&gt;&#10;                &lt;Box style={{ flexDirection: 'row', gap: 10, alignItems: 'flex-start' }}&gt;&#10;                    &lt;FAIcon name='check-circle' style={{ fill: '#2196F3', width: 18, height: 18 }} /&gt;&#10;                    &lt;Text style={{ fontSize: 14, color: '#5B6B7C', lineHeight: 1.5 }}&gt;&#10;                        平台按能力分层交付：协议与机型按现场挂载扩展，不绑定单一客户&#10;                    &lt;/Text&gt;&#10;                &lt;/Box&gt;&#10;            &lt;/Box&gt;&#10;        &lt;/Box&gt;&#10;    &lt;/Box&gt;&#10;&#10;    {/* C 区 */}&#10;    &lt;Box style={{ flexDirection: 'row', alignItems: 'center', justifyContent: 'space-between', height: 40 }}&gt;&#10;        &lt;Text style={{ fontSize: 13, color: '#8FB4D1' }}&gt;视觉软件 SunEyeVision · 软件开发汇报&lt;/Text&gt;&#10;        &lt;Text style={{ fontSize: 13, color: '#8FB4D1' }}&gt;03 / 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571500" y="4857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E8930C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62000" y="400050"/>
            <a:ext cx="4162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A45"/>
                </a:solidFill>
                <a:latin typeface="Microsoft YaHei"/>
                <a:ea typeface="Microsoft YaHei"/>
              </a:rPr>
              <a:t>下一步计划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62000" y="790575"/>
            <a:ext cx="416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B6B7C"/>
                </a:solidFill>
                <a:latin typeface="Microsoft YaHei"/>
                <a:ea typeface="Microsoft YaHei"/>
              </a:rPr>
              <a:t>10 </a:t>
            </a:r>
            <a:r>
              <a:rPr lang="zh-CN" sz="975">
                <a:solidFill>
                  <a:srgbClr val="5B6B7C"/>
                </a:solidFill>
                <a:latin typeface="Microsoft YaHei"/>
                <a:ea typeface="Microsoft YaHei"/>
              </a:rPr>
              <a:t>月设备层收口</a:t>
            </a:r>
            <a:r>
              <a:rPr lang="en-US" sz="975">
                <a:solidFill>
                  <a:srgbClr val="5B6B7C"/>
                </a:solidFill>
                <a:latin typeface="Microsoft YaHei"/>
                <a:ea typeface="Microsoft YaHei"/>
              </a:rPr>
              <a:t> → 12 </a:t>
            </a:r>
            <a:r>
              <a:rPr lang="zh-CN" sz="975">
                <a:solidFill>
                  <a:srgbClr val="5B6B7C"/>
                </a:solidFill>
                <a:latin typeface="Microsoft YaHei"/>
                <a:ea typeface="Microsoft YaHei"/>
              </a:rPr>
              <a:t>月打通引导抓取演示链路</a:t>
            </a:r>
            <a:r>
              <a:rPr lang="en-US" sz="975">
                <a:solidFill>
                  <a:srgbClr val="5B6B7C"/>
                </a:solidFill>
                <a:latin typeface="Microsoft YaHei"/>
                <a:ea typeface="Microsoft YaHei"/>
              </a:rPr>
              <a:t> · V1.0 </a:t>
            </a:r>
            <a:r>
              <a:rPr lang="zh-CN" sz="975">
                <a:solidFill>
                  <a:srgbClr val="5B6B7C"/>
                </a:solidFill>
                <a:latin typeface="Microsoft YaHei"/>
                <a:ea typeface="Microsoft YaHei"/>
              </a:rPr>
              <a:t>正式版</a:t>
            </a:r>
            <a:r>
              <a:rPr lang="en-US" sz="975">
                <a:solidFill>
                  <a:srgbClr val="5B6B7C"/>
                </a:solidFill>
                <a:latin typeface="Microsoft YaHei"/>
                <a:ea typeface="Microsoft YaHei"/>
              </a:rPr>
              <a:t> 2027-05-14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9220200" y="523875"/>
            <a:ext cx="2400300" cy="295275"/>
          </a:xfrm>
          <a:prstGeom prst="roundRect">
            <a:avLst>
              <a:gd name="adj" fmla="val 3222581"/>
            </a:avLst>
          </a:prstGeom>
          <a:solidFill>
            <a:srgbClr val="E8930C">
              <a:alpha val="10000"/>
            </a:srgbClr>
          </a:solidFill>
          <a:ln/>
        </p:spPr>
        <p:txBody>
          <a:bodyPr/>
          <a:p/>
        </p:txBody>
      </p:sp>
      <p:pic>
        <p:nvPicPr>
          <p:cNvPr id="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53550" y="600075"/>
            <a:ext cx="152400" cy="152400"/>
          </a:xfrm>
          <a:prstGeom prst="rect">
            <a:avLst/>
          </a:prstGeom>
          <a:ln/>
        </p:spPr>
      </p:pic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9582150" y="59055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8A5708"/>
                </a:solidFill>
                <a:latin typeface="Microsoft YaHei"/>
                <a:ea typeface="Microsoft YaHei"/>
              </a:rPr>
              <a:t>交付目标：</a:t>
            </a:r>
            <a:r>
              <a:rPr lang="en-US" sz="1050" b="1">
                <a:solidFill>
                  <a:srgbClr val="8A5708"/>
                </a:solidFill>
                <a:latin typeface="Microsoft YaHei"/>
                <a:ea typeface="Microsoft YaHei"/>
              </a:rPr>
              <a:t>12/31 </a:t>
            </a:r>
            <a:r>
              <a:rPr lang="zh-CN" sz="1050" b="1">
                <a:solidFill>
                  <a:srgbClr val="8A5708"/>
                </a:solidFill>
                <a:latin typeface="Microsoft YaHei"/>
                <a:ea typeface="Microsoft YaHei"/>
              </a:rPr>
              <a:t>引导抓取演示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571500" y="1143000"/>
            <a:ext cx="1123950" cy="1200150"/>
          </a:xfrm>
          <a:prstGeom prst="roundRect">
            <a:avLst>
              <a:gd name="adj" fmla="val 8475"/>
            </a:avLst>
          </a:prstGeom>
          <a:solidFill>
            <a:srgbClr val="2196F3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95350" y="156210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10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904875" y="17907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DCEAF6"/>
                </a:solidFill>
                <a:latin typeface="Microsoft YaHei"/>
                <a:ea typeface="Microsoft YaHei"/>
              </a:rPr>
              <a:t>当前阶段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1828800" y="1143000"/>
            <a:ext cx="5029200" cy="1200150"/>
          </a:xfrm>
          <a:prstGeom prst="roundRect">
            <a:avLst>
              <a:gd name="adj" fmla="val 7937"/>
            </a:avLst>
          </a:prstGeom>
          <a:solidFill>
            <a:srgbClr val="2196F3">
              <a:alpha val="6000"/>
            </a:srgbClr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981200" y="1257300"/>
            <a:ext cx="472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2A45"/>
                </a:solidFill>
                <a:latin typeface="Microsoft YaHei"/>
                <a:ea typeface="Microsoft YaHei"/>
              </a:rPr>
              <a:t>设备层收口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981200" y="1524000"/>
            <a:ext cx="4724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相机真机验证（海康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巴斯勒）、参数读写闭环；通讯链路测试（协议帧、异常、重连）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981200" y="2076450"/>
            <a:ext cx="472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196F3"/>
                </a:solidFill>
                <a:latin typeface="Microsoft YaHei"/>
                <a:ea typeface="Microsoft YaHei"/>
              </a:rPr>
              <a:t>出口：设备层可对外演示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571500" y="2457450"/>
            <a:ext cx="1123950" cy="1200150"/>
          </a:xfrm>
          <a:prstGeom prst="roundRect">
            <a:avLst>
              <a:gd name="adj" fmla="val 8475"/>
            </a:avLst>
          </a:prstGeom>
          <a:solidFill>
            <a:srgbClr val="14456E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95350" y="2943225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1828800" y="2457450"/>
            <a:ext cx="5029200" cy="1200150"/>
          </a:xfrm>
          <a:prstGeom prst="roundRect">
            <a:avLst>
              <a:gd name="adj" fmla="val 7937"/>
            </a:avLst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981200" y="2571750"/>
            <a:ext cx="472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2A45"/>
                </a:solidFill>
                <a:latin typeface="Microsoft YaHei"/>
                <a:ea typeface="Microsoft YaHei"/>
              </a:rPr>
              <a:t>视觉链路贯通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981200" y="2838450"/>
            <a:ext cx="4724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图像源收口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定位工具链首版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坐标转换，串起「采图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定位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位姿输出」；通信工具按平台挂载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981200" y="3390900"/>
            <a:ext cx="472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4456E"/>
                </a:solidFill>
                <a:latin typeface="Microsoft YaHei"/>
                <a:ea typeface="Microsoft YaHei"/>
              </a:rPr>
              <a:t>出口：视觉链路可跑通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571500" y="3771900"/>
            <a:ext cx="1123950" cy="1200150"/>
          </a:xfrm>
          <a:prstGeom prst="roundRect">
            <a:avLst>
              <a:gd name="adj" fmla="val 8475"/>
            </a:avLst>
          </a:prstGeom>
          <a:solidFill>
            <a:srgbClr val="E8930C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95350" y="419100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04875" y="44196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BE6C4"/>
                </a:solidFill>
                <a:latin typeface="Microsoft YaHei"/>
                <a:ea typeface="Microsoft YaHei"/>
              </a:rPr>
              <a:t>交付目标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1828800" y="3771900"/>
            <a:ext cx="5029200" cy="1200150"/>
          </a:xfrm>
          <a:prstGeom prst="roundRect">
            <a:avLst>
              <a:gd name="adj" fmla="val 7937"/>
            </a:avLst>
          </a:prstGeom>
          <a:solidFill>
            <a:srgbClr val="E8930C">
              <a:alpha val="10000"/>
            </a:srgbClr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981200" y="3886200"/>
            <a:ext cx="472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2A45"/>
                </a:solidFill>
                <a:latin typeface="Microsoft YaHei"/>
                <a:ea typeface="Microsoft YaHei"/>
              </a:rPr>
              <a:t>引导抓取演示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981200" y="4152900"/>
            <a:ext cx="4724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机器人通信接入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端到端联调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演示场景打磨（抓取精度以演示口径验收）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981200" y="4705350"/>
            <a:ext cx="472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5708"/>
                </a:solidFill>
                <a:latin typeface="Microsoft YaHei"/>
                <a:ea typeface="Microsoft YaHei"/>
              </a:rPr>
              <a:t>出口：</a:t>
            </a:r>
            <a:r>
              <a:rPr lang="en-US" sz="975" b="1">
                <a:solidFill>
                  <a:srgbClr val="8A5708"/>
                </a:solidFill>
                <a:latin typeface="Microsoft YaHei"/>
                <a:ea typeface="Microsoft YaHei"/>
              </a:rPr>
              <a:t>12/31 </a:t>
            </a:r>
            <a:r>
              <a:rPr lang="zh-CN" sz="975" b="1">
                <a:solidFill>
                  <a:srgbClr val="8A5708"/>
                </a:solidFill>
                <a:latin typeface="Microsoft YaHei"/>
                <a:ea typeface="Microsoft YaHei"/>
              </a:rPr>
              <a:t>具备引导抓取演示能力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571500" y="5086350"/>
            <a:ext cx="1123950" cy="1200150"/>
          </a:xfrm>
          <a:prstGeom prst="roundRect">
            <a:avLst>
              <a:gd name="adj" fmla="val 8475"/>
            </a:avLst>
          </a:prstGeom>
          <a:solidFill>
            <a:srgbClr val="0B2A45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71500" y="5457825"/>
            <a:ext cx="11239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2027 Q1–Q2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1828800" y="5086350"/>
            <a:ext cx="5029200" cy="1200150"/>
          </a:xfrm>
          <a:prstGeom prst="roundRect">
            <a:avLst>
              <a:gd name="adj" fmla="val 7937"/>
            </a:avLst>
          </a:prstGeom>
          <a:solidFill>
            <a:srgbClr val="F5F8FB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981200" y="5200650"/>
            <a:ext cx="472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2A45"/>
                </a:solidFill>
                <a:latin typeface="Microsoft YaHei"/>
                <a:ea typeface="Microsoft YaHei"/>
              </a:rPr>
              <a:t>精度与产品化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981200" y="5467350"/>
            <a:ext cx="4724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标定精度（内参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手眼）、可配置运行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UI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（工程师配置</a:t>
            </a:r>
            <a:r>
              <a:rPr lang="en-US" sz="1125">
                <a:solidFill>
                  <a:srgbClr val="5B6B7C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5B6B7C"/>
                </a:solidFill>
                <a:latin typeface="Microsoft YaHei"/>
                <a:ea typeface="Microsoft YaHei"/>
              </a:rPr>
              <a:t>操作工运行分层）、用户手册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981200" y="6019800"/>
            <a:ext cx="472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4456E"/>
                </a:solidFill>
                <a:latin typeface="Microsoft YaHei"/>
                <a:ea typeface="Microsoft YaHei"/>
              </a:rPr>
              <a:t>出口：</a:t>
            </a:r>
            <a:r>
              <a:rPr lang="en-US" sz="975" b="1">
                <a:solidFill>
                  <a:srgbClr val="14456E"/>
                </a:solidFill>
                <a:latin typeface="Microsoft YaHei"/>
                <a:ea typeface="Microsoft YaHei"/>
              </a:rPr>
              <a:t>V1.0 </a:t>
            </a:r>
            <a:r>
              <a:rPr lang="zh-CN" sz="975" b="1">
                <a:solidFill>
                  <a:srgbClr val="14456E"/>
                </a:solidFill>
                <a:latin typeface="Microsoft YaHei"/>
                <a:ea typeface="Microsoft YaHei"/>
              </a:rPr>
              <a:t>正式版交付</a:t>
            </a:r>
            <a:r>
              <a:rPr lang="en-US" sz="975" b="1">
                <a:solidFill>
                  <a:srgbClr val="14456E"/>
                </a:solidFill>
                <a:latin typeface="Microsoft YaHei"/>
                <a:ea typeface="Microsoft YaHei"/>
              </a:rPr>
              <a:t> 2027-05-14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7105650" y="1143000"/>
            <a:ext cx="4514850" cy="2047875"/>
          </a:xfrm>
          <a:prstGeom prst="roundRect">
            <a:avLst>
              <a:gd name="adj" fmla="val 6512"/>
            </a:avLst>
          </a:prstGeom>
          <a:solidFill>
            <a:srgbClr val="0B2A45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296150" y="1314450"/>
            <a:ext cx="4133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B4D1"/>
                </a:solidFill>
                <a:latin typeface="Microsoft YaHei"/>
                <a:ea typeface="Microsoft YaHei"/>
              </a:rPr>
              <a:t>交付目标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296150" y="1524000"/>
            <a:ext cx="2352675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>
                <a:solidFill>
                  <a:srgbClr val="E8930C"/>
                </a:solidFill>
                <a:latin typeface="Microsoft YaHei"/>
                <a:ea typeface="Microsoft YaHei"/>
              </a:rPr>
              <a:t>12/31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296150" y="2543175"/>
            <a:ext cx="413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具备引导抓取的演示能力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296150" y="2771775"/>
            <a:ext cx="4133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BBD6EC"/>
                </a:solidFill>
                <a:latin typeface="Microsoft YaHei"/>
                <a:ea typeface="Microsoft YaHei"/>
              </a:rPr>
              <a:t>正式版</a:t>
            </a:r>
            <a:r>
              <a:rPr lang="en-US" sz="1050">
                <a:solidFill>
                  <a:srgbClr val="BBD6EC"/>
                </a:solidFill>
                <a:latin typeface="Microsoft YaHei"/>
                <a:ea typeface="Microsoft YaHei"/>
              </a:rPr>
              <a:t> V1.0 </a:t>
            </a:r>
            <a:r>
              <a:rPr lang="zh-CN" sz="1050">
                <a:solidFill>
                  <a:srgbClr val="BBD6EC"/>
                </a:solidFill>
                <a:latin typeface="Microsoft YaHei"/>
                <a:ea typeface="Microsoft YaHei"/>
              </a:rPr>
              <a:t>于</a:t>
            </a:r>
            <a:r>
              <a:rPr lang="en-US" sz="1050">
                <a:solidFill>
                  <a:srgbClr val="BBD6EC"/>
                </a:solidFill>
                <a:latin typeface="Microsoft YaHei"/>
                <a:ea typeface="Microsoft YaHei"/>
              </a:rPr>
              <a:t> 2027-05-14 </a:t>
            </a:r>
            <a:r>
              <a:rPr lang="zh-CN" sz="1050">
                <a:solidFill>
                  <a:srgbClr val="BBD6EC"/>
                </a:solidFill>
                <a:latin typeface="Microsoft YaHei"/>
                <a:ea typeface="Microsoft YaHei"/>
              </a:rPr>
              <a:t>交付；瓶颈仍在</a:t>
            </a:r>
            <a:r>
              <a:rPr lang="zh-CN" sz="1050">
                <a:solidFill>
                  <a:srgbClr val="BBD6EC"/>
                </a:solidFill>
                <a:latin typeface="Microsoft YaHei"/>
                <a:ea typeface="Microsoft YaHei"/>
              </a:rPr>
              <a:t>硬件与现场验证</a:t>
            </a:r>
            <a:r>
              <a:rPr lang="zh-CN" sz="1050">
                <a:solidFill>
                  <a:srgbClr val="BBD6E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7105650" y="3324225"/>
            <a:ext cx="4514850" cy="2733675"/>
          </a:xfrm>
          <a:prstGeom prst="roundRect">
            <a:avLst>
              <a:gd name="adj" fmla="val 4878"/>
            </a:avLst>
          </a:prstGeom>
          <a:solidFill>
            <a:srgbClr val="2196F3">
              <a:alpha val="6000"/>
            </a:srgbClr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277100" y="3476625"/>
            <a:ext cx="4171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45"/>
                </a:solidFill>
                <a:latin typeface="Microsoft YaHei"/>
                <a:ea typeface="Microsoft YaHei"/>
              </a:rPr>
              <a:t>本阶段三个判断</a:t>
            </a:r>
            <a:endParaRPr/>
          </a:p>
        </p:txBody>
      </p:sp>
      <p:pic>
        <p:nvPicPr>
          <p:cNvPr id="1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277100" y="3771900"/>
            <a:ext cx="171450" cy="171450"/>
          </a:xfrm>
          <a:prstGeom prst="rect">
            <a:avLst/>
          </a:prstGeom>
          <a:ln/>
        </p:spPr>
      </p:pic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534275" y="3771900"/>
            <a:ext cx="39147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12/31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验收的是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演示能力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：优先打通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采图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定位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抓取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主链路，不追求功能齐备</a:t>
            </a:r>
            <a:endParaRPr/>
          </a:p>
        </p:txBody>
      </p:sp>
      <p:pic>
        <p:nvPicPr>
          <p:cNvPr id="1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277100" y="4352925"/>
            <a:ext cx="171450" cy="171450"/>
          </a:xfrm>
          <a:prstGeom prst="rect">
            <a:avLst/>
          </a:prstGeom>
          <a:ln/>
        </p:spPr>
      </p:pic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543800" y="4352925"/>
            <a:ext cx="3333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相机与机器人本体需尽早到位，硬件是当前最大不确定性</a:t>
            </a:r>
            <a:endParaRPr/>
          </a:p>
        </p:txBody>
      </p:sp>
      <p:pic>
        <p:nvPicPr>
          <p:cNvPr id="1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277100" y="4695825"/>
            <a:ext cx="171450" cy="171450"/>
          </a:xfrm>
          <a:prstGeom prst="rect">
            <a:avLst/>
          </a:prstGeom>
          <a:ln/>
        </p:spPr>
      </p:pic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543800" y="4695825"/>
            <a:ext cx="3905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平台按能力分层交付：协议与机型按现场挂载扩展，不绑定单一客户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71500" y="6172200"/>
            <a:ext cx="2171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B4D1"/>
                </a:solidFill>
                <a:latin typeface="Microsoft YaHei"/>
                <a:ea typeface="Microsoft YaHei"/>
              </a:rPr>
              <a:t>视觉软件</a:t>
            </a:r>
            <a:r>
              <a:rPr lang="en-US" sz="975">
                <a:solidFill>
                  <a:srgbClr val="8FB4D1"/>
                </a:solidFill>
                <a:latin typeface="Microsoft YaHei"/>
                <a:ea typeface="Microsoft YaHei"/>
              </a:rPr>
              <a:t> SunEyeVision · </a:t>
            </a:r>
            <a:r>
              <a:rPr lang="zh-CN" sz="975">
                <a:solidFill>
                  <a:srgbClr val="8FB4D1"/>
                </a:solidFill>
                <a:latin typeface="Microsoft YaHei"/>
                <a:ea typeface="Microsoft YaHei"/>
              </a:rPr>
              <a:t>软件开发汇报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268075" y="6172200"/>
            <a:ext cx="35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B4D1"/>
                </a:solidFill>
                <a:latin typeface="Microsoft YaHei"/>
                <a:ea typeface="Microsoft YaHei"/>
              </a:rPr>
              <a:t>03 / 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40" name="" descr="&lt;Slide style={{&#10;    width: '1280px', height: '720px', position: 'relative', overflow: 'hidden',&#10;    background: '#FFFFFF', padding: '20px 60px',&#10;    fontFamily: '&quot;Microsoft YaHei&quot;, &quot;Segoe UI&quot;, sans-serif'&#10;}}&gt;&#10;    {/* A 区 */}&#10;    &lt;Box style={{ flexDirection: 'row', alignItems: 'center', height: 100, gap: 14 }}&gt;&#10;        &lt;Box style={{ width: 6, height: 38, background: '#2196F3', borderRadius: 3 }} /&gt;&#10;        &lt;Box style={{ flexDirection: 'column' }}&gt;&#10;            &lt;Text style={{ fontSize: 34, fontWeight: 700, color: '#0B2A45' }}&gt;风险与需要的支持&lt;/Text&gt;&#10;            &lt;Text style={{ fontSize: 13, color: '#5B6B7C' }}&gt;&#10;                风险集中在&quot;硬件与验证&quot;，不是技术路线问题；支持项少而具体&#10;            &lt;/Text&gt;&#10;        &lt;/Box&gt;&#10;        &lt;Box style={{ flex: 1 }} /&gt;&#10;        &lt;Box style={{&#10;            flexDirection: 'row', alignItems: 'center', gap: 8,&#10;            background: 'rgba(33,150,243,0.08)', padding: '7px 14px', borderRadius: 999&#10;        }}&gt;&#10;            &lt;FAIcon name='exclamation-circle' style={{ fill: '#2196F3', width: 16, height: 16 }} /&gt;&#10;            &lt;Text style={{ fontSize: 14, color: '#14456E', fontWeight: 'bold' }}&gt;2 项高 · 2 项中&lt;/Text&gt;&#10;        &lt;/Box&gt;&#10;    &lt;/Box&gt;&#10;&#10;    {/* B 区 */}&#10;    &lt;Box style={{ flexDirection: 'column', height: 520, gap: 14 }}&gt;&#10;        {/* 上：4 条风险 */}&#10;        &lt;Box style={{ flexDirection: 'row', gap: 14, height: 262 }}&gt;&#10;            &lt;Box style={{ flex: 1, flexDirection: 'column', gap: 12 }}&gt;&#10;                &lt;Box style={{ flex: 1, background: '#FDF3F3', borderLeft: '4px solid #C0392B', borderRadius: 12, padding: '12px 16px', flexDirection: 'column', gap: 5, justifyContent: 'center' }}&gt;&#10;                    &lt;Box style={{ flexDirection: 'row', alignItems: 'center', gap: 8 }}&gt;&#10;                        &lt;FAIcon name='exclamation-circle' style={{ fill: '#C0392B', width: 18, height: 18 }} /&gt;&#10;                        &lt;Text style={{ fontSize: 12, fontWeight: 'bold', color: '#C0392B', background: '#F7D9D9', padding: '2px 8px', borderRadius: 999 }}&gt;高&lt;/Text&gt;&#10;                        &lt;Text style={{ fontSize: 19, fontWeight: 700, color: '#0B2A45' }}&gt;相机真机验证依赖硬件&lt;/Text&gt;&#10;                    &lt;/Box&gt;&#10;                    &lt;Text style={{ fontSize: 14, color: '#5B6B7C', lineHeight: 1.5 }}&gt;&#10;                        巴斯勒仅完成属性树映射；机型与标定板不齐，会直接卡住 10 月收口与后续标定&#10;                    &lt;/Text&gt;&#10;                &lt;/Box&gt;&#10;                &lt;Box style={{ flex: 1, background: '#FDF3F3', borderLeft: '4px solid #C0392B', borderRadius: 12, padding: '12px 16px', flexDirection: 'column', gap: 5, justifyContent: 'center' }}&gt;&#10;                    &lt;Box style={{ flexDirection: 'row', alignItems: 'center', gap: 8 }}&gt;&#10;                        &lt;FAIcon name='exclamation-circle' style={{ fill: '#C0392B', width: 18, height: 18 }} /&gt;&#10;                        &lt;Text style={{ fontSize: 12, fontWeight: 'bold', color: '#C0392B', background: '#F7D9D9', padding: '2px 8px', borderRadius: 999 }}&gt;高&lt;/Text&gt;&#10;                        &lt;Text style={{ fontSize: 19, fontWeight: 700, color: '#0B2A45' }}&gt;CvEngine 算子对标 7 / 16&lt;/Text&gt;&#10;                    &lt;/Box&gt;&#10;                    &lt;Text style={{ fontSize: 14, color: '#5B6B7C', lineHeight: 1.5 }}&gt;&#10;                        定位与标定的算法效率、精度受制于算子覆盖度，是下阶段技术瓶颈&#10;                    &lt;/Text&gt;&#10;                &lt;/Box&gt;&#10;            &lt;/Box&gt;&#10;            &lt;Box style={{ flex: 1, flexDirection: 'column', gap: 12 }}&gt;&#10;                &lt;Box style={{ flex: 1, background: '#FFF8EC', borderLeft: '4px solid #E8930C', borderRadius: 12, padding: '12px 16px', flexDirection: 'column', gap: 5, justifyContent: 'center' }}&gt;&#10;                    &lt;Box style={{ flexDirection: 'row', alignItems: 'center', gap: 8 }}&gt;&#10;                        &lt;FAIcon name='clock' style={{ fill: '#E8930C', width: 18, height: 18 }} /&gt;&#10;                        &lt;Text style={{ fontSize: 12, fontWeight: 'bold', color: '#8A5708', background: '#FBE6C4', padding: '2px 8px', borderRadius: 999 }}&gt;中&lt;/Text&gt;&#10;                        &lt;Text style={{ fontSize: 19, fontWeight: 700, color: '#0B2A45' }}&gt;算法精度用例偏少&lt;/Text&gt;&#10;                    &lt;/Box&gt;&#10;                    &lt;Text style={{ fontSize: 14, color: '#5B6B7C', lineHeight: 1.5 }}&gt;&#10;                        607 个用例集中在接口契约层；形状匹配/Blob 精度、标定误差用例待补&#10;                    &lt;/Text&gt;&#10;                &lt;/Box&gt;&#10;                &lt;Box style={{ flex: 1, background: '#FFF8EC', borderLeft: '4px solid #E8930C', borderRadius: 12, padding: '12px 16px', flexDirection: 'column', gap: 5, justifyContent: 'center' }}&gt;&#10;                    &lt;Box style={{ flexDirection: 'row', alignItems: 'center', gap: 8 }}&gt;&#10;                        &lt;FAIcon name='clock' style={{ fill: '#E8930C', width: 18, height: 18 }} /&gt;&#10;                        &lt;Text style={{ fontSize: 12, fontWeight: 'bold', color: '#8A5708', background: '#FBE6C4', padding: '2px 8px', borderRadius: 999 }}&gt;中&lt;/Text&gt;&#10;                        &lt;Text style={{ fontSize: 19, fontWeight: 700, color: '#0B2A45' }}&gt;交付物仍为 alpha&lt;/Text&gt;&#10;                    &lt;/Box&gt;&#10;                    &lt;Text style={{ fontSize: 14, color: '#5B6B7C', lineHeight: 1.5 }}&gt;&#10;                        缺完整回归测试与用户手册，交付压力集中在 2027 年 4–5 月&#10;                    &lt;/Text&gt;&#10;                &lt;/Box&gt;&#10;            &lt;/Box&gt;&#10;        &lt;/Box&gt;&#10;&#10;        {/* 下：3 条支持 + 结论条 */}&#10;        &lt;Box style={{ flex: 1, flexDirection: 'column', gap: 12 }}&gt;&#10;            &lt;Box style={{ flexDirection: 'row', gap: 14, flex: 1 }}&gt;&#10;                &lt;Box style={{ flex: 1, background: 'rgba(33,150,243,0.06)', borderRadius: 12, padding: '13px 16px', flexDirection: 'column', gap: 6 }}&gt;&#10;                    &lt;Box style={{ flexDirection: 'row', alignItems: 'center', gap: 8 }}&gt;&#10;                        &lt;FAIcon name='camera' style={{ fill: '#2196F3', width: 20, height: 20 }} /&gt;&#10;                        &lt;Text style={{ fontSize: 18, fontWeight: 700, color: '#0B2A45' }}&gt;硬件&lt;/Text&gt;&#10;                    &lt;/Box&gt;&#10;                    &lt;Text style={{ fontSize: 14, color: '#5B6B7C', lineHeight: 1.5 }}&gt;&#10;                        海康 / 巴斯勒工业相机各 1 台 + 标定板一套；引导抓取演示还需机器人本体（或客户机械臂联调窗口）&#10;                    &lt;/Text&gt;&#10;                &lt;/Box&gt;&#10;                &lt;Box style={{ flex: 1, background: 'rgba(33,150,243,0.06)', borderRadius: 12, padding: '13px 16px', flexDirection: 'column', gap: 6 }}&gt;&#10;                    &lt;Box style={{ flexDirection: 'row', alignItems: 'center', gap: 8 }}&gt;&#10;                        &lt;FAIcon name='calendar-check' style={{ fill: '#2196F3', width: 20, height: 20 }} /&gt;&#10;                        &lt;Text style={{ fontSize: 18, fontWeight: 700, color: '#0B2A45' }}&gt;现场时间&lt;/Text&gt;&#10;                    &lt;/Box&gt;&#10;                    &lt;Text style={{ fontSize: 14, color: '#5B6B7C', lineHeight: 1.5 }}&gt;&#10;                        11 月起安排 1–2 次现场验证窗口（相机 + 通讯 + 机器人 场景），验证平台在真实工况下的表现&#10;                    &lt;/Text&gt;&#10;                &lt;/Box&gt;&#10;                &lt;Box style={{ flex: 1, background: 'rgba(33,150,243,0.06)', borderRadius: 12, padding: '13px 16px', flexDirection: 'column', gap: 6 }}&gt;&#10;                    &lt;Box style={{ flexDirection: 'row', alignItems: 'center', gap: 8 }}&gt;&#10;                        &lt;FAIcon name='balance-scale' style={{ fill: '#2196F3', width: 20, height: 20 }} /&gt;&#10;                        &lt;Text style={{ fontSize: 18, fontWeight: 700, color: '#0B2A45' }}&gt;两项决策&lt;/Text&gt;&#10;                    &lt;/Box&gt;&#10;                    &lt;Text style={{ fontSize: 14, color: '#5B6B7C', lineHeight: 1.5 }}&gt;&#10;                        平台协议栈的先后次序（OPC UA 与 Modbus/S7 谁先做深）；AI 线与平台线的接口边界&#10;                    &lt;/Text&gt;&#10;                &lt;/Box&gt;&#10;            &lt;/Box&gt;&#10;            &lt;Box style={{&#10;                height: 78, background: '#0B2A45', borderRadius: 12, padding: '0 22px',&#10;                flexDirection: 'row', alignItems: 'center', gap: 18&#10;            }}&gt;&#10;                &lt;FAIcon name='bullseye' style={{ fill: '#E8930C', width: 30, height: 30 }} /&gt;&#10;                &lt;Text style={{ fontSize: 19, color: '#ffffff', lineHeight: 1.45 }}&gt;&#10;                    平台与工具链已可支撑&quot;配置流程 → 采图 → 测量判定&quot;的完整演示；&#10;                    &lt;span style={{ color: '#E8930C', fontWeight: 'bold' }}&gt;10 月把设备层收口&lt;/span&gt;，进入引导抓取主线（定位 → 标定 → 机器人通信），&lt;span style={{ color: '#E8930C', fontWeight: 'bold' }}&gt;12/31 具备引导抓取演示能力&lt;/span&gt;。&#10;                &lt;/Text&gt;&#10;            &lt;/Box&gt;&#10;        &lt;/Box&gt;&#10;    &lt;/Box&gt;&#10;&#10;    {/* C 区 */}&#10;    &lt;Box style={{ flexDirection: 'row', alignItems: 'center', justifyContent: 'space-between', height: 40 }}&gt;&#10;        &lt;Text style={{ fontSize: 13, color: '#8FB4D1' }}&gt;视觉软件 SunEyeVision · 软件开发汇报 · 2026-10-01&lt;/Text&gt;&#10;        &lt;Text style={{ fontSize: 13, color: '#8FB4D1' }}&gt;04 / 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571500" y="4857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62000" y="400050"/>
            <a:ext cx="34575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A45"/>
                </a:solidFill>
                <a:latin typeface="Microsoft YaHei"/>
                <a:ea typeface="Microsoft YaHei"/>
              </a:rPr>
              <a:t>风险与需要的支持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62000" y="790575"/>
            <a:ext cx="3457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C"/>
                </a:solidFill>
                <a:latin typeface="Microsoft YaHei"/>
                <a:ea typeface="Microsoft YaHei"/>
              </a:rPr>
              <a:t>风险集中在</a:t>
            </a:r>
            <a:r>
              <a:rPr lang="en-US" sz="975">
                <a:solidFill>
                  <a:srgbClr val="5B6B7C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5B6B7C"/>
                </a:solidFill>
                <a:latin typeface="Microsoft YaHei"/>
                <a:ea typeface="Microsoft YaHei"/>
              </a:rPr>
              <a:t>硬件与验证</a:t>
            </a:r>
            <a:r>
              <a:rPr lang="en-US" sz="975">
                <a:solidFill>
                  <a:srgbClr val="5B6B7C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5B6B7C"/>
                </a:solidFill>
                <a:latin typeface="Microsoft YaHei"/>
                <a:ea typeface="Microsoft YaHei"/>
              </a:rPr>
              <a:t>，不是技术路线问题；支持项少而具体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10201275" y="523875"/>
            <a:ext cx="1419225" cy="295275"/>
          </a:xfrm>
          <a:prstGeom prst="roundRect">
            <a:avLst>
              <a:gd name="adj" fmla="val 3222581"/>
            </a:avLst>
          </a:prstGeom>
          <a:solidFill>
            <a:srgbClr val="2196F3">
              <a:alpha val="8000"/>
            </a:srgbClr>
          </a:solidFill>
          <a:ln/>
        </p:spPr>
        <p:txBody>
          <a:bodyPr/>
          <a:p/>
        </p:txBody>
      </p:sp>
      <p:pic>
        <p:nvPicPr>
          <p:cNvPr id="1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334625" y="600075"/>
            <a:ext cx="152400" cy="152400"/>
          </a:xfrm>
          <a:prstGeom prst="rect">
            <a:avLst/>
          </a:prstGeom>
          <a:ln/>
        </p:spPr>
      </p:pic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0563225" y="590550"/>
            <a:ext cx="923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4456E"/>
                </a:solidFill>
                <a:latin typeface="Microsoft YaHei"/>
                <a:ea typeface="Microsoft YaHei"/>
              </a:rPr>
              <a:t>2 </a:t>
            </a:r>
            <a:r>
              <a:rPr lang="zh-CN" sz="1050" b="1">
                <a:solidFill>
                  <a:srgbClr val="14456E"/>
                </a:solidFill>
                <a:latin typeface="Microsoft YaHei"/>
                <a:ea typeface="Microsoft YaHei"/>
              </a:rPr>
              <a:t>项高</a:t>
            </a:r>
            <a:r>
              <a:rPr lang="en-US" sz="1050" b="1">
                <a:solidFill>
                  <a:srgbClr val="14456E"/>
                </a:solidFill>
                <a:latin typeface="Microsoft YaHei"/>
                <a:ea typeface="Microsoft YaHei"/>
              </a:rPr>
              <a:t> · 2 </a:t>
            </a:r>
            <a:r>
              <a:rPr lang="zh-CN" sz="1050" b="1">
                <a:solidFill>
                  <a:srgbClr val="14456E"/>
                </a:solidFill>
                <a:latin typeface="Microsoft YaHei"/>
                <a:ea typeface="Microsoft YaHei"/>
              </a:rPr>
              <a:t>项中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09600" y="1143000"/>
            <a:ext cx="5457825" cy="1190625"/>
          </a:xfrm>
          <a:prstGeom prst="roundRect">
            <a:avLst>
              <a:gd name="adj" fmla="val 9600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609600" y="1143000"/>
            <a:ext cx="5457825" cy="1190625"/>
          </a:xfrm>
          <a:custGeom>
            <a:pathLst>
              <a:path w="573" h="12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7"/>
                </a:lnTo>
                <a:cubicBezTo>
                  <a:pt x="4" y="121"/>
                  <a:pt x="7" y="124"/>
                  <a:pt x="10" y="125"/>
                </a:cubicBezTo>
                <a:cubicBezTo>
                  <a:pt x="4" y="124"/>
                  <a:pt x="0" y="119"/>
                  <a:pt x="0" y="11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p/>
        </p:txBody>
      </p:sp>
      <p:pic>
        <p:nvPicPr>
          <p:cNvPr id="1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000" y="1514475"/>
            <a:ext cx="171450" cy="171450"/>
          </a:xfrm>
          <a:prstGeom prst="rect">
            <a:avLst/>
          </a:prstGeom>
          <a:ln/>
        </p:spPr>
      </p:pic>
      <p:sp>
        <p:nvSpPr>
          <p:cNvPr id="151" name=""/>
          <p:cNvSpPr/>
          <p:nvPr/>
        </p:nvSpPr>
        <p:spPr>
          <a:xfrm rot="0" flipH="0" flipV="0">
            <a:off x="1009650" y="1504950"/>
            <a:ext cx="266700" cy="180975"/>
          </a:xfrm>
          <a:prstGeom prst="roundRect">
            <a:avLst>
              <a:gd name="adj" fmla="val 5257895"/>
            </a:avLst>
          </a:prstGeom>
          <a:solidFill>
            <a:srgbClr val="F7D9D9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009650" y="1504950"/>
            <a:ext cx="266700" cy="180975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0392B"/>
                </a:solidFill>
                <a:highlight>
                  <a:srgbClr val="F7D9D9"/>
                </a:highlight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352550" y="148590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2A45"/>
                </a:solidFill>
                <a:latin typeface="Microsoft YaHei"/>
                <a:ea typeface="Microsoft YaHei"/>
              </a:rPr>
              <a:t>相机真机验证依赖硬件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62000" y="1752600"/>
            <a:ext cx="51149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巴斯勒仅完成属性树映射；机型与标定板不齐，会直接卡住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 10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月收口与后续标定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09600" y="2447925"/>
            <a:ext cx="5457825" cy="1190625"/>
          </a:xfrm>
          <a:prstGeom prst="roundRect">
            <a:avLst>
              <a:gd name="adj" fmla="val 9600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609600" y="2447925"/>
            <a:ext cx="5457825" cy="1190625"/>
          </a:xfrm>
          <a:custGeom>
            <a:pathLst>
              <a:path w="573" h="12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7"/>
                </a:lnTo>
                <a:cubicBezTo>
                  <a:pt x="4" y="121"/>
                  <a:pt x="7" y="124"/>
                  <a:pt x="10" y="125"/>
                </a:cubicBezTo>
                <a:cubicBezTo>
                  <a:pt x="4" y="124"/>
                  <a:pt x="0" y="119"/>
                  <a:pt x="0" y="11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p/>
        </p:txBody>
      </p:sp>
      <p:pic>
        <p:nvPicPr>
          <p:cNvPr id="1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000" y="2819400"/>
            <a:ext cx="171450" cy="171450"/>
          </a:xfrm>
          <a:prstGeom prst="rect">
            <a:avLst/>
          </a:prstGeom>
          <a:ln/>
        </p:spPr>
      </p:pic>
      <p:sp>
        <p:nvSpPr>
          <p:cNvPr id="158" name=""/>
          <p:cNvSpPr/>
          <p:nvPr/>
        </p:nvSpPr>
        <p:spPr>
          <a:xfrm rot="0" flipH="0" flipV="0">
            <a:off x="1009650" y="2809875"/>
            <a:ext cx="266700" cy="180975"/>
          </a:xfrm>
          <a:prstGeom prst="roundRect">
            <a:avLst>
              <a:gd name="adj" fmla="val 5257895"/>
            </a:avLst>
          </a:prstGeom>
          <a:solidFill>
            <a:srgbClr val="F7D9D9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009650" y="2809875"/>
            <a:ext cx="266700" cy="180975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0392B"/>
                </a:solidFill>
                <a:highlight>
                  <a:srgbClr val="F7D9D9"/>
                </a:highlight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352550" y="2790825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A45"/>
                </a:solidFill>
                <a:latin typeface="Microsoft YaHei"/>
                <a:ea typeface="Microsoft YaHei"/>
              </a:rPr>
              <a:t>CvEngine </a:t>
            </a:r>
            <a:r>
              <a:rPr lang="zh-CN" sz="1425" b="1">
                <a:solidFill>
                  <a:srgbClr val="0B2A45"/>
                </a:solidFill>
                <a:latin typeface="Microsoft YaHei"/>
                <a:ea typeface="Microsoft YaHei"/>
              </a:rPr>
              <a:t>算子对标</a:t>
            </a:r>
            <a:r>
              <a:rPr lang="en-US" sz="1425" b="1">
                <a:solidFill>
                  <a:srgbClr val="0B2A45"/>
                </a:solidFill>
                <a:latin typeface="Microsoft YaHei"/>
                <a:ea typeface="Microsoft YaHei"/>
              </a:rPr>
              <a:t> 7 / 16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62000" y="3057525"/>
            <a:ext cx="51149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定位与标定的算法效率、精度受制于算子覆盖度，是下阶段技术瓶颈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200775" y="1143000"/>
            <a:ext cx="5457825" cy="1190625"/>
          </a:xfrm>
          <a:prstGeom prst="roundRect">
            <a:avLst>
              <a:gd name="adj" fmla="val 9600"/>
            </a:avLst>
          </a:prstGeom>
          <a:solidFill>
            <a:srgbClr val="FFF8EC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6200775" y="1143000"/>
            <a:ext cx="5457825" cy="1190625"/>
          </a:xfrm>
          <a:custGeom>
            <a:pathLst>
              <a:path w="573" h="12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7"/>
                </a:lnTo>
                <a:cubicBezTo>
                  <a:pt x="4" y="121"/>
                  <a:pt x="7" y="124"/>
                  <a:pt x="10" y="125"/>
                </a:cubicBezTo>
                <a:cubicBezTo>
                  <a:pt x="4" y="124"/>
                  <a:pt x="0" y="119"/>
                  <a:pt x="0" y="11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930C"/>
          </a:solidFill>
          <a:ln/>
        </p:spPr>
        <p:txBody>
          <a:bodyPr/>
          <a:p/>
        </p:txBody>
      </p:sp>
      <p:pic>
        <p:nvPicPr>
          <p:cNvPr id="1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353175" y="1514475"/>
            <a:ext cx="171450" cy="171450"/>
          </a:xfrm>
          <a:prstGeom prst="rect">
            <a:avLst/>
          </a:prstGeom>
          <a:ln/>
        </p:spPr>
      </p:pic>
      <p:sp>
        <p:nvSpPr>
          <p:cNvPr id="165" name=""/>
          <p:cNvSpPr/>
          <p:nvPr/>
        </p:nvSpPr>
        <p:spPr>
          <a:xfrm rot="0" flipH="0" flipV="0">
            <a:off x="6600825" y="1504950"/>
            <a:ext cx="266700" cy="180975"/>
          </a:xfrm>
          <a:prstGeom prst="roundRect">
            <a:avLst>
              <a:gd name="adj" fmla="val 5257895"/>
            </a:avLst>
          </a:prstGeom>
          <a:solidFill>
            <a:srgbClr val="FBE6C4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600825" y="1504950"/>
            <a:ext cx="266700" cy="180975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8A5708"/>
                </a:solidFill>
                <a:highlight>
                  <a:srgbClr val="FBE6C4"/>
                </a:highlight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943725" y="1485900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2A45"/>
                </a:solidFill>
                <a:latin typeface="Microsoft YaHei"/>
                <a:ea typeface="Microsoft YaHei"/>
              </a:rPr>
              <a:t>算法精度用例偏少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353175" y="1752600"/>
            <a:ext cx="51149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607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个用例集中在接口契约层；形状匹配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/Blob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精度、标定误差用例待补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200775" y="2447925"/>
            <a:ext cx="5457825" cy="1190625"/>
          </a:xfrm>
          <a:prstGeom prst="roundRect">
            <a:avLst>
              <a:gd name="adj" fmla="val 9600"/>
            </a:avLst>
          </a:prstGeom>
          <a:solidFill>
            <a:srgbClr val="FFF8EC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6200775" y="2447925"/>
            <a:ext cx="5457825" cy="1190625"/>
          </a:xfrm>
          <a:custGeom>
            <a:pathLst>
              <a:path w="573" h="12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7"/>
                </a:lnTo>
                <a:cubicBezTo>
                  <a:pt x="4" y="121"/>
                  <a:pt x="7" y="124"/>
                  <a:pt x="10" y="125"/>
                </a:cubicBezTo>
                <a:cubicBezTo>
                  <a:pt x="4" y="124"/>
                  <a:pt x="0" y="119"/>
                  <a:pt x="0" y="11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8930C"/>
          </a:solidFill>
          <a:ln/>
        </p:spPr>
        <p:txBody>
          <a:bodyPr/>
          <a:p/>
        </p:txBody>
      </p:sp>
      <p:pic>
        <p:nvPicPr>
          <p:cNvPr id="1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353175" y="2819400"/>
            <a:ext cx="171450" cy="171450"/>
          </a:xfrm>
          <a:prstGeom prst="rect">
            <a:avLst/>
          </a:prstGeom>
          <a:ln/>
        </p:spPr>
      </p:pic>
      <p:sp>
        <p:nvSpPr>
          <p:cNvPr id="172" name=""/>
          <p:cNvSpPr/>
          <p:nvPr/>
        </p:nvSpPr>
        <p:spPr>
          <a:xfrm rot="0" flipH="0" flipV="0">
            <a:off x="6600825" y="2809875"/>
            <a:ext cx="266700" cy="180975"/>
          </a:xfrm>
          <a:prstGeom prst="roundRect">
            <a:avLst>
              <a:gd name="adj" fmla="val 5257895"/>
            </a:avLst>
          </a:prstGeom>
          <a:solidFill>
            <a:srgbClr val="FBE6C4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600825" y="2809875"/>
            <a:ext cx="266700" cy="180975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8A5708"/>
                </a:solidFill>
                <a:highlight>
                  <a:srgbClr val="FBE6C4"/>
                </a:highlight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943725" y="2790825"/>
            <a:ext cx="1466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2A45"/>
                </a:solidFill>
                <a:latin typeface="Microsoft YaHei"/>
                <a:ea typeface="Microsoft YaHei"/>
              </a:rPr>
              <a:t>交付物仍为</a:t>
            </a:r>
            <a:r>
              <a:rPr lang="en-US" sz="1425" b="1">
                <a:solidFill>
                  <a:srgbClr val="0B2A45"/>
                </a:solidFill>
                <a:latin typeface="Microsoft YaHei"/>
                <a:ea typeface="Microsoft YaHei"/>
              </a:rPr>
              <a:t> alpha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353175" y="3057525"/>
            <a:ext cx="51149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缺完整回归测试与用户手册，交付压力集中在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 2027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 4–5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571500" y="3771900"/>
            <a:ext cx="3590925" cy="1466850"/>
          </a:xfrm>
          <a:prstGeom prst="roundRect">
            <a:avLst>
              <a:gd name="adj" fmla="val 7792"/>
            </a:avLst>
          </a:prstGeom>
          <a:solidFill>
            <a:srgbClr val="2196F3">
              <a:alpha val="6000"/>
            </a:srgbClr>
          </a:solidFill>
          <a:ln/>
        </p:spPr>
        <p:txBody>
          <a:bodyPr/>
          <a:p/>
        </p:txBody>
      </p:sp>
      <p:pic>
        <p:nvPicPr>
          <p:cNvPr id="1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23900" y="3905250"/>
            <a:ext cx="190500" cy="190500"/>
          </a:xfrm>
          <a:prstGeom prst="rect">
            <a:avLst/>
          </a:prstGeom>
          <a:ln/>
        </p:spPr>
      </p:pic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90600" y="38957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B2A45"/>
                </a:solidFill>
                <a:latin typeface="Microsoft YaHei"/>
                <a:ea typeface="Microsoft YaHei"/>
              </a:rPr>
              <a:t>硬件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23900" y="4162425"/>
            <a:ext cx="32861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海康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巴斯勒工业相机各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 1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台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标定板一套；引导抓取演示还需机器人本体（或客户机械臂联调窗口）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4295775" y="3771900"/>
            <a:ext cx="3600450" cy="1466850"/>
          </a:xfrm>
          <a:prstGeom prst="roundRect">
            <a:avLst>
              <a:gd name="adj" fmla="val 7792"/>
            </a:avLst>
          </a:prstGeom>
          <a:solidFill>
            <a:srgbClr val="2196F3">
              <a:alpha val="6000"/>
            </a:srgbClr>
          </a:solidFill>
          <a:ln/>
        </p:spPr>
        <p:txBody>
          <a:bodyPr/>
          <a:p/>
        </p:txBody>
      </p:sp>
      <p:pic>
        <p:nvPicPr>
          <p:cNvPr id="1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448175" y="3905250"/>
            <a:ext cx="190500" cy="190500"/>
          </a:xfrm>
          <a:prstGeom prst="rect">
            <a:avLst/>
          </a:prstGeom>
          <a:ln/>
        </p:spPr>
      </p:pic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714875" y="38957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B2A45"/>
                </a:solidFill>
                <a:latin typeface="Microsoft YaHei"/>
                <a:ea typeface="Microsoft YaHei"/>
              </a:rPr>
              <a:t>现场时间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448175" y="4162425"/>
            <a:ext cx="32956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11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月起安排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 1–2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次现场验证窗口（相机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通讯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机器人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场景），验证平台在真实工况下的表现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8029575" y="3771900"/>
            <a:ext cx="3590925" cy="1466850"/>
          </a:xfrm>
          <a:prstGeom prst="roundRect">
            <a:avLst>
              <a:gd name="adj" fmla="val 7792"/>
            </a:avLst>
          </a:prstGeom>
          <a:solidFill>
            <a:srgbClr val="2196F3">
              <a:alpha val="6000"/>
            </a:srgbClr>
          </a:solidFill>
          <a:ln/>
        </p:spPr>
        <p:txBody>
          <a:bodyPr/>
          <a:p/>
        </p:txBody>
      </p:sp>
      <p:pic>
        <p:nvPicPr>
          <p:cNvPr id="1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181975" y="3905250"/>
            <a:ext cx="190500" cy="190500"/>
          </a:xfrm>
          <a:prstGeom prst="rect">
            <a:avLst/>
          </a:prstGeom>
          <a:ln/>
        </p:spPr>
      </p:pic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448675" y="38957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B2A45"/>
                </a:solidFill>
                <a:latin typeface="Microsoft YaHei"/>
                <a:ea typeface="Microsoft YaHei"/>
              </a:rPr>
              <a:t>两项决策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181975" y="4162425"/>
            <a:ext cx="32861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平台协议栈的先后次序（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OPC UA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 Modbus/S7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谁先做深）；</a:t>
            </a:r>
            <a:r>
              <a:rPr lang="en-US" sz="1050">
                <a:solidFill>
                  <a:srgbClr val="5B6B7C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5B6B7C"/>
                </a:solidFill>
                <a:latin typeface="Microsoft YaHei"/>
                <a:ea typeface="Microsoft YaHei"/>
              </a:rPr>
              <a:t>线与平台线的接口边界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571500" y="5353050"/>
            <a:ext cx="11049000" cy="742950"/>
          </a:xfrm>
          <a:prstGeom prst="roundRect">
            <a:avLst>
              <a:gd name="adj" fmla="val 15385"/>
            </a:avLst>
          </a:prstGeom>
          <a:solidFill>
            <a:srgbClr val="0B2A45"/>
          </a:solidFill>
          <a:ln/>
        </p:spPr>
        <p:txBody>
          <a:bodyPr/>
          <a:p/>
        </p:txBody>
      </p:sp>
      <p:pic>
        <p:nvPicPr>
          <p:cNvPr id="1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781050" y="5581650"/>
            <a:ext cx="285750" cy="285750"/>
          </a:xfrm>
          <a:prstGeom prst="rect">
            <a:avLst/>
          </a:prstGeom>
          <a:ln/>
        </p:spPr>
      </p:pic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228725" y="5410200"/>
            <a:ext cx="101822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平台与工具链已可支撑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配置流程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采图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测量判定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的完整演示；</a:t>
            </a:r>
            <a:r>
              <a:rPr lang="en-US" sz="1425" b="1">
                <a:solidFill>
                  <a:srgbClr val="E8930C"/>
                </a:solidFill>
                <a:latin typeface="Microsoft YaHei"/>
                <a:ea typeface="Microsoft YaHei"/>
              </a:rPr>
              <a:t>10 </a:t>
            </a:r>
            <a:r>
              <a:rPr lang="zh-CN" sz="1425" b="1">
                <a:solidFill>
                  <a:srgbClr val="E8930C"/>
                </a:solidFill>
                <a:latin typeface="Microsoft YaHei"/>
                <a:ea typeface="Microsoft YaHei"/>
              </a:rPr>
              <a:t>月把设备层收口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，进入引导抓取主线（定位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标定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机器人通信），</a:t>
            </a:r>
            <a:r>
              <a:rPr lang="en-US" sz="1425" b="1">
                <a:solidFill>
                  <a:srgbClr val="E8930C"/>
                </a:solidFill>
                <a:latin typeface="Microsoft YaHei"/>
                <a:ea typeface="Microsoft YaHei"/>
              </a:rPr>
              <a:t>12/31 </a:t>
            </a:r>
            <a:r>
              <a:rPr lang="zh-CN" sz="1425" b="1">
                <a:solidFill>
                  <a:srgbClr val="E8930C"/>
                </a:solidFill>
                <a:latin typeface="Microsoft YaHei"/>
                <a:ea typeface="Microsoft YaHei"/>
              </a:rPr>
              <a:t>具备引导抓取演示能力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71500" y="6210300"/>
            <a:ext cx="2962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B4D1"/>
                </a:solidFill>
                <a:latin typeface="Microsoft YaHei"/>
                <a:ea typeface="Microsoft YaHei"/>
              </a:rPr>
              <a:t>视觉软件</a:t>
            </a:r>
            <a:r>
              <a:rPr lang="en-US" sz="975">
                <a:solidFill>
                  <a:srgbClr val="8FB4D1"/>
                </a:solidFill>
                <a:latin typeface="Microsoft YaHei"/>
                <a:ea typeface="Microsoft YaHei"/>
              </a:rPr>
              <a:t> SunEyeVision · </a:t>
            </a:r>
            <a:r>
              <a:rPr lang="zh-CN" sz="975">
                <a:solidFill>
                  <a:srgbClr val="8FB4D1"/>
                </a:solidFill>
                <a:latin typeface="Microsoft YaHei"/>
                <a:ea typeface="Microsoft YaHei"/>
              </a:rPr>
              <a:t>软件开发汇报</a:t>
            </a:r>
            <a:r>
              <a:rPr lang="en-US" sz="975">
                <a:solidFill>
                  <a:srgbClr val="8FB4D1"/>
                </a:solidFill>
                <a:latin typeface="Microsoft YaHei"/>
                <a:ea typeface="Microsoft YaHei"/>
              </a:rPr>
              <a:t> · 2026-10-01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268075" y="6210300"/>
            <a:ext cx="35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B4D1"/>
                </a:solidFill>
                <a:latin typeface="Microsoft YaHei"/>
                <a:ea typeface="Microsoft YaHei"/>
              </a:rPr>
              <a:t>04 / 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2026-10-01T14:42:41Z</dcterms:created>
  <dcterms:modified xsi:type="dcterms:W3CDTF">2026-10-01T14:42:41Z</dcterms:modified>
</cp:coreProperties>
</file>